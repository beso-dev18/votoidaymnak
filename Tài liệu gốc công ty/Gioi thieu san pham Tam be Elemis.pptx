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19" r:id="rId2"/>
    <p:sldId id="459" r:id="rId3"/>
    <p:sldId id="456" r:id="rId4"/>
    <p:sldId id="439" r:id="rId5"/>
    <p:sldId id="442" r:id="rId6"/>
    <p:sldId id="451" r:id="rId7"/>
    <p:sldId id="462" r:id="rId8"/>
    <p:sldId id="487" r:id="rId9"/>
    <p:sldId id="488" r:id="rId10"/>
    <p:sldId id="489" r:id="rId11"/>
    <p:sldId id="490" r:id="rId12"/>
    <p:sldId id="491" r:id="rId13"/>
    <p:sldId id="492" r:id="rId14"/>
    <p:sldId id="461" r:id="rId1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50" d="100"/>
          <a:sy n="50" d="100"/>
        </p:scale>
        <p:origin x="46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 err="1">
                <a:solidFill>
                  <a:schemeClr val="accent3"/>
                </a:solidFill>
              </a:rPr>
              <a:t>Mỹ phẩm chăm sóc cho bé</a:t>
            </a:r>
            <a:endParaRPr lang="en-US" sz="2800" dirty="0">
              <a:solidFill>
                <a:schemeClr val="accent3"/>
              </a:solidFill>
            </a:endParaRPr>
          </a:p>
        </c:rich>
      </c:tx>
      <c:layout>
        <c:manualLayout>
          <c:xMode val="edge"/>
          <c:yMode val="edge"/>
          <c:x val="0.54174207439305067"/>
          <c:y val="3.36936775245703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Mỹ phẩm chăm sóc cho bé</c:v>
                </c:pt>
              </c:strCache>
            </c:strRef>
          </c:tx>
          <c:explosion val="11"/>
          <c:dPt>
            <c:idx val="0"/>
            <c:bubble3D val="0"/>
            <c:explosion val="9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A1F-4569-B930-6E5BAF207C45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A1F-4569-B930-6E5BAF207C45}"/>
              </c:ext>
            </c:extLst>
          </c:dPt>
          <c:dLbls>
            <c:dLbl>
              <c:idx val="0"/>
              <c:layout>
                <c:manualLayout>
                  <c:x val="-0.11500351858191649"/>
                  <c:y val="-0.22015561363019279"/>
                </c:manualLayout>
              </c:layout>
              <c:tx>
                <c:rich>
                  <a:bodyPr/>
                  <a:lstStyle/>
                  <a:p>
                    <a:fld id="{D01008F4-9616-4B55-80B8-FE6CA9EC2F95}" type="CATEGORYNAME">
                      <a:rPr lang="vi-VN" sz="1400">
                        <a:latin typeface="Open Sans"/>
                      </a:rPr>
                      <a:pPr/>
                      <a:t>[CATEGORY NAME]</a:t>
                    </a:fld>
                    <a:r>
                      <a:rPr lang="vi-VN" sz="1400" baseline="0" dirty="0">
                        <a:latin typeface="Open Sans"/>
                      </a:rPr>
                      <a:t>
</a:t>
                    </a:r>
                    <a:fld id="{108879B1-1688-44ED-97CE-48B37FE3FBC7}" type="PERCENTAGE">
                      <a:rPr lang="vi-VN" sz="1400" baseline="0">
                        <a:latin typeface="Open Sans"/>
                      </a:rPr>
                      <a:pPr/>
                      <a:t>[PERCENTAGE]</a:t>
                    </a:fld>
                    <a:endParaRPr lang="vi-VN" sz="1400" baseline="0" dirty="0">
                      <a:latin typeface="Open Sans"/>
                    </a:endParaRP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A1F-4569-B930-6E5BAF207C45}"/>
                </c:ext>
              </c:extLst>
            </c:dLbl>
            <c:dLbl>
              <c:idx val="1"/>
              <c:layout>
                <c:manualLayout>
                  <c:x val="6.8937150519228579E-2"/>
                  <c:y val="0.1967243076296497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91E7471-9994-48D8-B02A-635D7BF95A83}" type="CATEGORYNAME">
                      <a:rPr lang="en-US" sz="1400">
                        <a:latin typeface="Open Sans"/>
                      </a:rPr>
                      <a:pPr>
                        <a:defRPr/>
                      </a:pPr>
                      <a:t>[CATEGORY NAME]</a:t>
                    </a:fld>
                    <a:r>
                      <a:rPr lang="en-US" sz="1400" baseline="0" dirty="0"/>
                      <a:t>
</a:t>
                    </a:r>
                    <a:fld id="{F358CFCD-C73F-48EC-8595-96219DB25BEA}" type="PERCENTAGE">
                      <a:rPr lang="en-US" sz="1400" baseline="0">
                        <a:latin typeface="Open Sans"/>
                      </a:rPr>
                      <a:pPr>
                        <a:defRPr/>
                      </a:pPr>
                      <a:t>[PERCENTAGE]</a:t>
                    </a:fld>
                    <a:endParaRPr lang="en-US" sz="14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7083285784929049E-2"/>
                      <c:h val="0.1809482758620689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A1F-4569-B930-6E5BAF207C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Thành phần hóa dược</c:v>
                </c:pt>
                <c:pt idx="1">
                  <c:v>Thành phần khác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1F-4569-B930-6E5BAF207C45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BD9A7-0CE4-46CF-BFBC-B25D19E05D9C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D01D3-FC51-4FBC-AF5C-DB4FA494864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027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B4016-F0CF-4DDE-815C-3C191C2DC8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7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45C67-0CFF-4B0A-B24D-4E8C35A281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47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Thành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: </a:t>
            </a:r>
            <a:r>
              <a:rPr lang="en-US" baseline="0" dirty="0" err="1"/>
              <a:t>Thiên</a:t>
            </a:r>
            <a:r>
              <a:rPr lang="en-US" baseline="0" dirty="0"/>
              <a:t> </a:t>
            </a:r>
            <a:r>
              <a:rPr lang="en-US" baseline="0" dirty="0" err="1"/>
              <a:t>nhiên</a:t>
            </a:r>
            <a:r>
              <a:rPr lang="en-US" baseline="0" dirty="0"/>
              <a:t>, </a:t>
            </a:r>
            <a:r>
              <a:rPr lang="vi-V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 cơ (organic).</a:t>
            </a:r>
            <a:endParaRPr lang="vi-VN" dirty="0">
              <a:latin typeface="Times New Roman" panose="02020603050405020304" pitchFamily="18" charset="0"/>
            </a:endParaRP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45C67-0CFF-4B0A-B24D-4E8C35A2811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459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/>
              <a:t>Không</a:t>
            </a:r>
            <a:r>
              <a:rPr lang="vi-VN" baseline="0"/>
              <a:t> chỉ cung cấp sp chăm sóc cho mẹ,  </a:t>
            </a:r>
            <a:r>
              <a:rPr lang="en-US" baseline="0" dirty="0" err="1"/>
              <a:t>Công</a:t>
            </a:r>
            <a:r>
              <a:rPr lang="en-US" baseline="0" dirty="0"/>
              <a:t> ty </a:t>
            </a:r>
            <a:r>
              <a:rPr lang="en-US" baseline="0" err="1"/>
              <a:t>Dược</a:t>
            </a:r>
            <a:r>
              <a:rPr lang="en-US" baseline="0"/>
              <a:t> Khoa – trường đại học Dược hà nội của chúng tôi còn </a:t>
            </a:r>
            <a:r>
              <a:rPr lang="vi-VN" baseline="0"/>
              <a:t>nghiên cứu và phát triển thành công sản phẩm Tắm </a:t>
            </a:r>
            <a:r>
              <a:rPr lang="vi-VN" baseline="0" dirty="0"/>
              <a:t>bé tD </a:t>
            </a:r>
            <a:r>
              <a:rPr lang="vi-VN" baseline="0"/>
              <a:t>ELEMIs được</a:t>
            </a:r>
            <a:r>
              <a:rPr lang="en-US" baseline="0"/>
              <a:t> chiết </a:t>
            </a:r>
            <a:r>
              <a:rPr lang="en-US" baseline="0" dirty="0" err="1"/>
              <a:t>xuất</a:t>
            </a:r>
            <a:r>
              <a:rPr lang="en-US" baseline="0" dirty="0"/>
              <a:t> </a:t>
            </a:r>
            <a:r>
              <a:rPr lang="en-US" baseline="0" dirty="0" err="1"/>
              <a:t>hoàn</a:t>
            </a:r>
            <a:r>
              <a:rPr lang="en-US" baseline="0" dirty="0"/>
              <a:t> </a:t>
            </a:r>
            <a:r>
              <a:rPr lang="en-US" baseline="0" dirty="0" err="1"/>
              <a:t>toàn</a:t>
            </a:r>
            <a:r>
              <a:rPr lang="en-US" baseline="0" dirty="0"/>
              <a:t> </a:t>
            </a:r>
            <a:r>
              <a:rPr lang="en-US" baseline="0" dirty="0" err="1"/>
              <a:t>từ</a:t>
            </a:r>
            <a:r>
              <a:rPr lang="en-US" baseline="0" dirty="0"/>
              <a:t> </a:t>
            </a:r>
            <a:r>
              <a:rPr lang="en-US" baseline="0" dirty="0" err="1"/>
              <a:t>thảo</a:t>
            </a:r>
            <a:r>
              <a:rPr lang="en-US" baseline="0" dirty="0"/>
              <a:t> </a:t>
            </a:r>
            <a:r>
              <a:rPr lang="en-US" baseline="0" dirty="0" err="1"/>
              <a:t>dược</a:t>
            </a:r>
            <a:r>
              <a:rPr lang="en-US" baseline="0" dirty="0"/>
              <a:t> </a:t>
            </a:r>
            <a:r>
              <a:rPr lang="en-US" baseline="0" err="1"/>
              <a:t>thiên</a:t>
            </a:r>
            <a:r>
              <a:rPr lang="en-US" baseline="0"/>
              <a:t> nhiên, giúp các mẹ giải quyết vấn đề về việc lựa chọn sản phẩm sữa tắm an toàn cho bé yêu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B4016-F0CF-4DDE-815C-3C191C2DC8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90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với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thành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: </a:t>
            </a:r>
            <a:r>
              <a:rPr lang="en-US" baseline="0" dirty="0" err="1"/>
              <a:t>kinh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, </a:t>
            </a:r>
            <a:r>
              <a:rPr lang="en-US" baseline="0" dirty="0" err="1"/>
              <a:t>sài</a:t>
            </a:r>
            <a:r>
              <a:rPr lang="en-US" baseline="0" dirty="0"/>
              <a:t> </a:t>
            </a:r>
            <a:r>
              <a:rPr lang="en-US" baseline="0" dirty="0" err="1"/>
              <a:t>đất</a:t>
            </a:r>
            <a:r>
              <a:rPr lang="en-US" baseline="0" dirty="0"/>
              <a:t>, </a:t>
            </a:r>
            <a:r>
              <a:rPr lang="en-US" baseline="0" dirty="0" err="1"/>
              <a:t>khổ</a:t>
            </a:r>
            <a:r>
              <a:rPr lang="en-US" baseline="0" dirty="0"/>
              <a:t> qua, </a:t>
            </a:r>
            <a:r>
              <a:rPr lang="en-US" baseline="0" dirty="0" err="1"/>
              <a:t>chè</a:t>
            </a:r>
            <a:r>
              <a:rPr lang="en-US" baseline="0" dirty="0"/>
              <a:t> </a:t>
            </a:r>
            <a:r>
              <a:rPr lang="en-US" baseline="0" dirty="0" err="1"/>
              <a:t>xanh</a:t>
            </a:r>
            <a:r>
              <a:rPr lang="en-US" baseline="0" dirty="0"/>
              <a:t>,… </a:t>
            </a:r>
            <a:r>
              <a:rPr lang="en-US" baseline="0" dirty="0" err="1"/>
              <a:t>Mỗi</a:t>
            </a:r>
            <a:r>
              <a:rPr lang="en-US" baseline="0" dirty="0"/>
              <a:t> </a:t>
            </a:r>
            <a:r>
              <a:rPr lang="en-US" baseline="0" dirty="0" err="1"/>
              <a:t>thành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1 </a:t>
            </a:r>
            <a:r>
              <a:rPr lang="en-US" baseline="0" dirty="0" err="1"/>
              <a:t>tác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 </a:t>
            </a:r>
            <a:r>
              <a:rPr lang="en-US" baseline="0" dirty="0" err="1"/>
              <a:t>nhau</a:t>
            </a:r>
            <a:r>
              <a:rPr lang="en-US" baseline="0" dirty="0"/>
              <a:t>, </a:t>
            </a:r>
            <a:r>
              <a:rPr lang="en-US" baseline="0" dirty="0" err="1"/>
              <a:t>mang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nhiều</a:t>
            </a:r>
            <a:r>
              <a:rPr lang="en-US" baseline="0" dirty="0"/>
              <a:t> </a:t>
            </a:r>
            <a:r>
              <a:rPr lang="en-US" baseline="0" dirty="0" err="1"/>
              <a:t>lợi</a:t>
            </a:r>
            <a:r>
              <a:rPr lang="en-US" baseline="0" dirty="0"/>
              <a:t> </a:t>
            </a:r>
            <a:r>
              <a:rPr lang="en-US" baseline="0" dirty="0" err="1"/>
              <a:t>ích</a:t>
            </a:r>
            <a:r>
              <a:rPr lang="en-US" baseline="0" dirty="0"/>
              <a:t> </a:t>
            </a:r>
            <a:r>
              <a:rPr lang="en-US" baseline="0" dirty="0" err="1"/>
              <a:t>khi</a:t>
            </a:r>
            <a:r>
              <a:rPr lang="en-US" baseline="0" dirty="0"/>
              <a:t> </a:t>
            </a:r>
            <a:r>
              <a:rPr lang="en-US" baseline="0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sản</a:t>
            </a:r>
            <a:r>
              <a:rPr lang="en-US" baseline="0" dirty="0"/>
              <a:t> </a:t>
            </a:r>
            <a:r>
              <a:rPr lang="en-US" baseline="0" dirty="0" err="1"/>
              <a:t>phẩm</a:t>
            </a:r>
            <a:r>
              <a:rPr lang="en-US" baseline="0" dirty="0"/>
              <a:t>. </a:t>
            </a:r>
            <a:r>
              <a:rPr lang="en-US" baseline="0" dirty="0" err="1"/>
              <a:t>Dịch</a:t>
            </a:r>
            <a:r>
              <a:rPr lang="en-US" baseline="0" dirty="0"/>
              <a:t> </a:t>
            </a:r>
            <a:r>
              <a:rPr lang="en-US" baseline="0" dirty="0" err="1"/>
              <a:t>chiết</a:t>
            </a:r>
            <a:r>
              <a:rPr lang="en-US" baseline="0" dirty="0"/>
              <a:t> </a:t>
            </a:r>
            <a:r>
              <a:rPr lang="en-US" baseline="0" dirty="0" err="1"/>
              <a:t>kinh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tác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,….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B4016-F0CF-4DDE-815C-3C191C2DC8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2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Elemis </a:t>
            </a:r>
            <a:r>
              <a:rPr lang="en-US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công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: </a:t>
            </a:r>
            <a:r>
              <a:rPr lang="en-US" baseline="0" dirty="0" err="1"/>
              <a:t>Ngăn</a:t>
            </a:r>
            <a:r>
              <a:rPr lang="en-US" baseline="0" dirty="0"/>
              <a:t> </a:t>
            </a:r>
            <a:r>
              <a:rPr lang="en-US" baseline="0" dirty="0" err="1"/>
              <a:t>ngừa</a:t>
            </a:r>
            <a:r>
              <a:rPr lang="en-US" baseline="0" dirty="0"/>
              <a:t> </a:t>
            </a:r>
            <a:r>
              <a:rPr lang="en-US" baseline="0" dirty="0" err="1"/>
              <a:t>rôm</a:t>
            </a:r>
            <a:r>
              <a:rPr lang="en-US" baseline="0" dirty="0"/>
              <a:t> </a:t>
            </a:r>
            <a:r>
              <a:rPr lang="en-US" baseline="0" dirty="0" err="1"/>
              <a:t>sảy</a:t>
            </a:r>
            <a:r>
              <a:rPr lang="en-US" baseline="0" dirty="0"/>
              <a:t> </a:t>
            </a:r>
            <a:r>
              <a:rPr lang="en-US" baseline="0" dirty="0" err="1"/>
              <a:t>mụn</a:t>
            </a:r>
            <a:r>
              <a:rPr lang="en-US" baseline="0" dirty="0"/>
              <a:t> </a:t>
            </a:r>
            <a:r>
              <a:rPr lang="en-US" baseline="0" dirty="0" err="1"/>
              <a:t>nhọt</a:t>
            </a:r>
            <a:r>
              <a:rPr lang="en-US" baseline="0" dirty="0"/>
              <a:t> =&gt; </a:t>
            </a:r>
            <a:r>
              <a:rPr lang="en-US" baseline="0" dirty="0" err="1"/>
              <a:t>phòng</a:t>
            </a:r>
            <a:r>
              <a:rPr lang="en-US" baseline="0" dirty="0"/>
              <a:t> </a:t>
            </a:r>
            <a:r>
              <a:rPr lang="en-US" baseline="0" dirty="0" err="1"/>
              <a:t>chống</a:t>
            </a:r>
            <a:r>
              <a:rPr lang="en-US" baseline="0" dirty="0"/>
              <a:t> </a:t>
            </a:r>
            <a:r>
              <a:rPr lang="en-US" baseline="0" dirty="0" err="1"/>
              <a:t>muỗi</a:t>
            </a:r>
            <a:r>
              <a:rPr lang="en-US" baseline="0" dirty="0"/>
              <a:t> =&gt;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B4016-F0CF-4DDE-815C-3C191C2DC8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2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những</a:t>
            </a:r>
            <a:r>
              <a:rPr lang="en-US" baseline="0" dirty="0"/>
              <a:t> </a:t>
            </a:r>
            <a:r>
              <a:rPr lang="en-US" baseline="0" dirty="0" err="1"/>
              <a:t>chiết</a:t>
            </a:r>
            <a:r>
              <a:rPr lang="en-US" baseline="0" dirty="0"/>
              <a:t> </a:t>
            </a:r>
            <a:r>
              <a:rPr lang="en-US" baseline="0" dirty="0" err="1"/>
              <a:t>xuất</a:t>
            </a:r>
            <a:r>
              <a:rPr lang="en-US" baseline="0" dirty="0"/>
              <a:t> </a:t>
            </a:r>
            <a:r>
              <a:rPr lang="en-US" baseline="0" dirty="0" err="1"/>
              <a:t>từ</a:t>
            </a:r>
            <a:r>
              <a:rPr lang="en-US" baseline="0" dirty="0"/>
              <a:t> </a:t>
            </a:r>
            <a:r>
              <a:rPr lang="en-US" baseline="0" dirty="0" err="1"/>
              <a:t>thảo</a:t>
            </a:r>
            <a:r>
              <a:rPr lang="en-US" baseline="0" dirty="0"/>
              <a:t> </a:t>
            </a:r>
            <a:r>
              <a:rPr lang="en-US" baseline="0" dirty="0" err="1"/>
              <a:t>dược</a:t>
            </a:r>
            <a:r>
              <a:rPr lang="en-US" baseline="0" dirty="0"/>
              <a:t>, Elemis </a:t>
            </a:r>
            <a:r>
              <a:rPr lang="en-US" baseline="0" dirty="0" err="1"/>
              <a:t>còn</a:t>
            </a:r>
            <a:r>
              <a:rPr lang="en-US" baseline="0" dirty="0"/>
              <a:t> cam </a:t>
            </a:r>
            <a:r>
              <a:rPr lang="en-US" baseline="0" dirty="0" err="1"/>
              <a:t>kết</a:t>
            </a:r>
            <a:r>
              <a:rPr lang="en-US" baseline="0" dirty="0"/>
              <a:t> </a:t>
            </a:r>
            <a:r>
              <a:rPr lang="en-US" baseline="0" dirty="0" err="1"/>
              <a:t>chất</a:t>
            </a:r>
            <a:r>
              <a:rPr lang="en-US" baseline="0" dirty="0"/>
              <a:t> </a:t>
            </a:r>
            <a:r>
              <a:rPr lang="en-US" baseline="0" dirty="0" err="1"/>
              <a:t>lượng</a:t>
            </a:r>
            <a:r>
              <a:rPr lang="en-US" baseline="0" dirty="0"/>
              <a:t> </a:t>
            </a:r>
            <a:r>
              <a:rPr lang="en-US" baseline="0" dirty="0" err="1"/>
              <a:t>sản</a:t>
            </a:r>
            <a:r>
              <a:rPr lang="en-US" baseline="0" dirty="0"/>
              <a:t> </a:t>
            </a:r>
            <a:r>
              <a:rPr lang="en-US" baseline="0" dirty="0" err="1"/>
              <a:t>phẩm</a:t>
            </a:r>
            <a:r>
              <a:rPr lang="en-US" baseline="0" dirty="0"/>
              <a:t> “5 KHÔNG”.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chất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 </a:t>
            </a:r>
            <a:r>
              <a:rPr lang="en-US" baseline="0" dirty="0" err="1"/>
              <a:t>bọt</a:t>
            </a:r>
            <a:r>
              <a:rPr lang="en-US" baseline="0" dirty="0"/>
              <a:t>,….. </a:t>
            </a:r>
            <a:r>
              <a:rPr lang="en-US" baseline="0" dirty="0" err="1"/>
              <a:t>Nên</a:t>
            </a:r>
            <a:r>
              <a:rPr lang="en-US" baseline="0" dirty="0"/>
              <a:t> </a:t>
            </a:r>
            <a:r>
              <a:rPr lang="en-US" baseline="0" dirty="0" err="1"/>
              <a:t>tắm</a:t>
            </a:r>
            <a:r>
              <a:rPr lang="en-US" baseline="0" dirty="0"/>
              <a:t> </a:t>
            </a:r>
            <a:r>
              <a:rPr lang="en-US" baseline="0" dirty="0" err="1"/>
              <a:t>xong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cần</a:t>
            </a:r>
            <a:r>
              <a:rPr lang="en-US" baseline="0" dirty="0"/>
              <a:t> </a:t>
            </a:r>
            <a:r>
              <a:rPr lang="en-US" baseline="0" dirty="0" err="1"/>
              <a:t>tráng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bằng</a:t>
            </a:r>
            <a:r>
              <a:rPr lang="en-US" baseline="0" dirty="0"/>
              <a:t> </a:t>
            </a:r>
            <a:r>
              <a:rPr lang="en-US" baseline="0" dirty="0" err="1"/>
              <a:t>nước</a:t>
            </a:r>
            <a:r>
              <a:rPr lang="en-US" baseline="0" dirty="0"/>
              <a:t> </a:t>
            </a:r>
            <a:r>
              <a:rPr lang="en-US" baseline="0" dirty="0" err="1"/>
              <a:t>thường</a:t>
            </a:r>
            <a:r>
              <a:rPr lang="en-US" baseline="0" dirty="0"/>
              <a:t>,….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B4016-F0CF-4DDE-815C-3C191C2DC8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4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B4016-F0CF-4DDE-815C-3C191C2DC8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88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Hết</a:t>
            </a:r>
            <a:r>
              <a:rPr lang="en-US" baseline="0" dirty="0"/>
              <a:t> </a:t>
            </a:r>
            <a:r>
              <a:rPr lang="en-US" dirty="0" err="1"/>
              <a:t>Hầu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 </a:t>
            </a:r>
            <a:r>
              <a:rPr lang="en-US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bé</a:t>
            </a:r>
            <a:r>
              <a:rPr lang="en-US" baseline="0" dirty="0"/>
              <a:t> </a:t>
            </a:r>
            <a:r>
              <a:rPr lang="en-US" baseline="0" dirty="0" err="1"/>
              <a:t>sau</a:t>
            </a:r>
            <a:r>
              <a:rPr lang="en-US" baseline="0" dirty="0"/>
              <a:t> </a:t>
            </a:r>
            <a:r>
              <a:rPr lang="en-US" baseline="0" dirty="0" err="1"/>
              <a:t>khi</a:t>
            </a:r>
            <a:r>
              <a:rPr lang="en-US" baseline="0" dirty="0"/>
              <a:t> </a:t>
            </a:r>
            <a:r>
              <a:rPr lang="en-US" baseline="0" dirty="0" err="1"/>
              <a:t>siinh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SD </a:t>
            </a:r>
            <a:r>
              <a:rPr lang="en-US" baseline="0" dirty="0" err="1"/>
              <a:t>ngay</a:t>
            </a:r>
            <a:r>
              <a:rPr lang="en-US" baseline="0" dirty="0"/>
              <a:t> </a:t>
            </a:r>
            <a:r>
              <a:rPr lang="en-US" baseline="0" dirty="0" err="1"/>
              <a:t>sp</a:t>
            </a:r>
            <a:r>
              <a:rPr lang="en-US" baseline="0" dirty="0"/>
              <a:t> E </a:t>
            </a:r>
            <a:r>
              <a:rPr lang="en-US" baseline="0" dirty="0" err="1"/>
              <a:t>để</a:t>
            </a:r>
            <a:r>
              <a:rPr lang="en-US" baseline="0" dirty="0"/>
              <a:t> </a:t>
            </a:r>
            <a:r>
              <a:rPr lang="en-US" baseline="0" dirty="0" err="1"/>
              <a:t>tắm</a:t>
            </a:r>
            <a:r>
              <a:rPr lang="en-US" baseline="0" dirty="0"/>
              <a:t> </a:t>
            </a:r>
            <a:r>
              <a:rPr lang="en-US" baseline="0" dirty="0" err="1"/>
              <a:t>gội</a:t>
            </a:r>
            <a:r>
              <a:rPr lang="en-US" baseline="0" dirty="0"/>
              <a:t>,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tình</a:t>
            </a:r>
            <a:r>
              <a:rPr lang="en-US" baseline="0" dirty="0"/>
              <a:t> </a:t>
            </a:r>
            <a:r>
              <a:rPr lang="en-US" baseline="0" dirty="0" err="1"/>
              <a:t>trạng</a:t>
            </a:r>
            <a:r>
              <a:rPr lang="en-US" baseline="0" dirty="0"/>
              <a:t> </a:t>
            </a:r>
            <a:r>
              <a:rPr lang="en-US" baseline="0" dirty="0" err="1"/>
              <a:t>rôm</a:t>
            </a:r>
            <a:r>
              <a:rPr lang="en-US" baseline="0" dirty="0"/>
              <a:t> say, </a:t>
            </a:r>
            <a:r>
              <a:rPr lang="en-US" baseline="0" dirty="0" err="1"/>
              <a:t>mụn</a:t>
            </a:r>
            <a:r>
              <a:rPr lang="en-US" baseline="0" dirty="0"/>
              <a:t> </a:t>
            </a:r>
            <a:r>
              <a:rPr lang="en-US" baseline="0" dirty="0" err="1"/>
              <a:t>nhọt</a:t>
            </a:r>
            <a:r>
              <a:rPr lang="en-US" baseline="0" dirty="0"/>
              <a:t>...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45C67-0CFF-4B0A-B24D-4E8C35A281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98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45C67-0CFF-4B0A-B24D-4E8C35A2811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40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E3E18-CA7F-4714-8D98-8DDF78AE49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7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AA2F-6BA5-479F-B74C-10DCBF78A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D1367-7053-4050-8530-CB6291CF2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5C3B0-F072-477C-9F43-B8572F2A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9F83-13F4-4B54-A463-46310F5D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D08D-5475-4369-BD25-C0D745AA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476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85F3-CA91-443D-91FE-59AC94C5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8C71D-F6D1-407A-9D28-9B4A711ED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4475E-BF1B-42A5-8CB4-8DF6D0E7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8EED2-4BFD-450F-A77B-4D0E7039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441B-A2D3-4D40-AD10-F0D1FFC3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9970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AA50-30B3-4B0F-999A-5DE4D4A72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F2882-2E37-4869-9159-BFFC808A5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C5C7F-B845-4E1C-B5BC-E3DC3268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02679-B586-4A2C-82AD-70C8E380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387C9-B726-4596-B057-6946981B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324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FDD6-CF02-48A8-BBBB-364B4725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08F3-BCD8-4EED-A7BE-44C5F8E0A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55A3B-C3D6-4928-B31E-A0A2A12C6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DAB8E-532A-4C06-9944-90CB118D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EEF9E-D5D3-4F81-903D-4FE6CE2D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06F1C-0099-4771-BECE-70CF48FD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845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DEAB-AC4D-49F6-8CC9-2E936DAF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BEB6C-A5F0-43E9-A1E8-9768945C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5E39E-A104-49DA-810E-A12F487D5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53A21-B424-478C-8E0A-717E71276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75A9FC-B6E2-4A7E-9C57-60941AA48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8B420-EA74-478A-8210-5E4A7CE4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7A9A0-F8A6-47B6-88D7-4E14925D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19F27-2D6A-4F06-80AD-C0AAABAA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928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2182-E1A4-45BB-84E8-5BD6285F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8D77B-0A9A-4905-8731-2FC80864F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A5ED3-8F7A-45DD-9C8C-FCCC7EE7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F6BBB-BD17-4CF5-86AB-AD9CAB2B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183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E7B67-DDA3-4C4D-AB2F-68C6EF6A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C6AA3-997E-4629-9812-0B181247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ECC5A-3586-4F5B-BC59-2844EDB5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491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283B-FF2D-4088-ADF7-AFFA88ED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C28DA-A17F-4180-9208-4F15FF9E2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257A6-2F01-480E-A28E-738FD9C9E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3819E-1B3F-4119-A302-9DBB81D1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FA778-6FC1-4825-BAC1-8437219B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65C6D-80EF-49E1-977C-9D45CC05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866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915F-E42B-4A5B-A273-A7E2FFF4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5C6D1-777D-4254-AEB2-74A324C4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39AC6-1A31-4A49-9730-4BDB57CEC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33A9C-D145-437A-99AD-63432D85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13A20-A0EC-4857-96C8-45D8C8D6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73881-085D-4554-BCAF-FA8C71BD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739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617E-A4DD-4E6A-ACA4-44E76783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5BFF6-C687-4DF3-82D4-1131F6B15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CA0C-6CF0-4447-A97C-68DF52C0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63881-EA10-4856-89D3-B0791F40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11963-C3E5-4196-BBB4-FDFD72BB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824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3EEA56-9E6F-40AD-9F1C-079BD00A9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C3160-D6CB-44CF-BD26-9DF38969D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45CB6-EC8F-4C77-9D73-3FB11107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5305-D39A-49E9-A1F8-272874B0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E15E-D17A-48B1-A795-01069182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883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allery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3" y="248258"/>
            <a:ext cx="3481263" cy="1214897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700" kern="1200">
                <a:solidFill>
                  <a:srgbClr val="FFFFFF"/>
                </a:solidFill>
                <a:latin typeface="Open Sans"/>
                <a:ea typeface="+mn-ea"/>
                <a:cs typeface="Open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933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-2117" y="518584"/>
            <a:ext cx="12194117" cy="574674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-2115" y="6472269"/>
            <a:ext cx="2597332" cy="394984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700" kern="1200">
                <a:solidFill>
                  <a:srgbClr val="FFFFFF"/>
                </a:solidFill>
                <a:latin typeface="Open Sans"/>
                <a:ea typeface="+mn-ea"/>
                <a:cs typeface="Open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933" dirty="0"/>
          </a:p>
        </p:txBody>
      </p:sp>
    </p:spTree>
    <p:extLst>
      <p:ext uri="{BB962C8B-B14F-4D97-AF65-F5344CB8AC3E}">
        <p14:creationId xmlns:p14="http://schemas.microsoft.com/office/powerpoint/2010/main" val="79799173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7F056-1EBB-4C1A-A03A-19624F06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BDFDA-23AB-47F0-A5FB-541A936F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99BE7-B20C-4D58-9B72-60836AA6D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A4F89-6CD5-4D01-9C3C-3FBB1833B959}" type="datetimeFigureOut">
              <a:rPr lang="vi-VN" smtClean="0"/>
              <a:t>21/09/2026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AA9A2-2EF3-4008-BCB6-DE6BE67D4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DA3E0-413A-4080-8B3F-FE7E0C42D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48246-C77D-4E68-8865-8B8BBAEBC81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602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Relationship Id="rId9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4355" y="2156951"/>
            <a:ext cx="7972755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9BBB59"/>
                </a:solidFill>
                <a:latin typeface="Open Sans"/>
              </a:rPr>
              <a:t>I. GIỚI </a:t>
            </a:r>
            <a:r>
              <a:rPr lang="en-US" sz="4000" b="1" dirty="0" err="1">
                <a:solidFill>
                  <a:srgbClr val="9BBB59"/>
                </a:solidFill>
                <a:latin typeface="Open Sans"/>
              </a:rPr>
              <a:t>THIỆU</a:t>
            </a:r>
            <a:r>
              <a:rPr lang="en-US" sz="4000" b="1" dirty="0">
                <a:solidFill>
                  <a:srgbClr val="9BBB59"/>
                </a:solidFill>
                <a:latin typeface="Open Sans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4000" b="1" dirty="0" err="1">
                <a:solidFill>
                  <a:srgbClr val="9BBB59"/>
                </a:solidFill>
                <a:latin typeface="Open Sans"/>
              </a:rPr>
              <a:t>SẢN</a:t>
            </a:r>
            <a:r>
              <a:rPr lang="en-US" sz="4000" b="1" dirty="0">
                <a:solidFill>
                  <a:srgbClr val="9BBB59"/>
                </a:solidFill>
                <a:latin typeface="Open Sans"/>
              </a:rPr>
              <a:t> </a:t>
            </a:r>
            <a:r>
              <a:rPr lang="en-US" sz="4000" b="1" dirty="0" err="1">
                <a:solidFill>
                  <a:srgbClr val="9BBB59"/>
                </a:solidFill>
                <a:latin typeface="Open Sans"/>
              </a:rPr>
              <a:t>PHẨM</a:t>
            </a:r>
            <a:r>
              <a:rPr lang="en-US" sz="4000" b="1" dirty="0">
                <a:solidFill>
                  <a:srgbClr val="9BBB59"/>
                </a:solidFill>
                <a:latin typeface="Open Sans"/>
              </a:rPr>
              <a:t> </a:t>
            </a:r>
            <a:r>
              <a:rPr lang="en-US" sz="4000" b="1" dirty="0" err="1">
                <a:solidFill>
                  <a:srgbClr val="9BBB59"/>
                </a:solidFill>
                <a:latin typeface="Open Sans"/>
              </a:rPr>
              <a:t>TẮM</a:t>
            </a:r>
            <a:r>
              <a:rPr lang="en-US" sz="4000" b="1" dirty="0">
                <a:solidFill>
                  <a:srgbClr val="9BBB59"/>
                </a:solidFill>
                <a:latin typeface="Open Sans"/>
              </a:rPr>
              <a:t> </a:t>
            </a:r>
            <a:r>
              <a:rPr lang="en-US" sz="4000" b="1" dirty="0" err="1">
                <a:solidFill>
                  <a:srgbClr val="9BBB59"/>
                </a:solidFill>
                <a:latin typeface="Open Sans"/>
              </a:rPr>
              <a:t>BÉ</a:t>
            </a:r>
            <a:r>
              <a:rPr lang="en-US" sz="4000" b="1" dirty="0">
                <a:solidFill>
                  <a:srgbClr val="9BBB59"/>
                </a:solidFill>
                <a:latin typeface="Open Sans"/>
              </a:rPr>
              <a:t> ELEMIS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BF35E6-3FFB-C85C-459E-C489C94AFD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800" y="292100"/>
            <a:ext cx="2008188" cy="11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80679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363200" cy="1219200"/>
          </a:xfrm>
        </p:spPr>
        <p:txBody>
          <a:bodyPr>
            <a:noAutofit/>
          </a:bodyPr>
          <a:lstStyle/>
          <a:p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Nhiều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mẹ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Việt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đang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gặp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khó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khăn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trong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việc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lựa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chọn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sản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phẩm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tắm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gội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>
                <a:solidFill>
                  <a:srgbClr val="EE107F"/>
                </a:solidFill>
                <a:latin typeface="Open Sans"/>
              </a:rPr>
              <a:t>an </a:t>
            </a:r>
            <a:r>
              <a:rPr lang="en-US" sz="2800" b="1" dirty="0" err="1">
                <a:solidFill>
                  <a:srgbClr val="EE107F"/>
                </a:solidFill>
                <a:latin typeface="Open Sans"/>
              </a:rPr>
              <a:t>toàn</a:t>
            </a:r>
            <a:r>
              <a:rPr lang="en-US" sz="2800" b="1" dirty="0">
                <a:solidFill>
                  <a:srgbClr val="EE107F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rgbClr val="EE107F"/>
                </a:solidFill>
                <a:latin typeface="Open Sans"/>
              </a:rPr>
              <a:t>và</a:t>
            </a:r>
            <a:r>
              <a:rPr lang="en-US" sz="2800" b="1" dirty="0">
                <a:solidFill>
                  <a:srgbClr val="EE107F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rgbClr val="EE107F"/>
                </a:solidFill>
                <a:latin typeface="Open Sans"/>
              </a:rPr>
              <a:t>hiệu</a:t>
            </a:r>
            <a:r>
              <a:rPr lang="en-US" sz="2800" b="1" dirty="0">
                <a:solidFill>
                  <a:srgbClr val="EE107F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rgbClr val="EE107F"/>
                </a:solidFill>
                <a:latin typeface="Open Sans"/>
              </a:rPr>
              <a:t>quả</a:t>
            </a:r>
            <a:r>
              <a:rPr lang="en-US" sz="2800" b="1" dirty="0">
                <a:solidFill>
                  <a:srgbClr val="EE107F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cho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 </a:t>
            </a:r>
            <a:r>
              <a:rPr lang="en-US" sz="2800" b="1" dirty="0" err="1">
                <a:solidFill>
                  <a:schemeClr val="accent3"/>
                </a:solidFill>
                <a:latin typeface="Open Sans"/>
              </a:rPr>
              <a:t>bé</a:t>
            </a:r>
            <a:r>
              <a:rPr lang="en-US" sz="2800" b="1" dirty="0">
                <a:solidFill>
                  <a:schemeClr val="accent3"/>
                </a:solidFill>
                <a:latin typeface="Open Sans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1528" y="2506535"/>
            <a:ext cx="172720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0" b="1" dirty="0">
                <a:solidFill>
                  <a:srgbClr val="EE107F"/>
                </a:solidFill>
                <a:latin typeface="Open Sans"/>
              </a:rPr>
              <a:t>?</a:t>
            </a:r>
            <a:endParaRPr lang="vi-VN" sz="15300" b="1" dirty="0">
              <a:solidFill>
                <a:srgbClr val="EE107F"/>
              </a:solidFill>
              <a:latin typeface="Open Sans"/>
            </a:endParaRPr>
          </a:p>
        </p:txBody>
      </p:sp>
      <p:pic>
        <p:nvPicPr>
          <p:cNvPr id="8" name="Picture 4" descr="Image result for CHỌN SỮA TẮM SIÊU THỊ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56156"/>
            <a:ext cx="5257128" cy="346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791669" y="3169785"/>
            <a:ext cx="3149600" cy="14465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003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sz="2400" dirty="0">
                <a:latin typeface="Open Sans"/>
              </a:rPr>
              <a:t>Hơn </a:t>
            </a:r>
            <a:r>
              <a:rPr lang="vi-VN" sz="4000" b="1" dirty="0">
                <a:solidFill>
                  <a:srgbClr val="EE107F"/>
                </a:solidFill>
                <a:latin typeface="Open Sans"/>
              </a:rPr>
              <a:t>3000</a:t>
            </a:r>
            <a:r>
              <a:rPr lang="vi-VN" sz="2400" dirty="0">
                <a:latin typeface="Open Sans"/>
              </a:rPr>
              <a:t> dòng sản phẩm trên thị trường</a:t>
            </a:r>
          </a:p>
        </p:txBody>
      </p:sp>
    </p:spTree>
    <p:extLst>
      <p:ext uri="{BB962C8B-B14F-4D97-AF65-F5344CB8AC3E}">
        <p14:creationId xmlns:p14="http://schemas.microsoft.com/office/powerpoint/2010/main" val="321662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-2354319" y="575652"/>
          <a:ext cx="10678511" cy="5347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6479808" y="1417501"/>
            <a:ext cx="3657600" cy="1208690"/>
            <a:chOff x="7788166" y="4939862"/>
            <a:chExt cx="3657600" cy="1208690"/>
          </a:xfrm>
        </p:grpSpPr>
        <p:sp>
          <p:nvSpPr>
            <p:cNvPr id="3" name="Rounded Rectangle 2"/>
            <p:cNvSpPr/>
            <p:nvPr/>
          </p:nvSpPr>
          <p:spPr>
            <a:xfrm>
              <a:off x="7788166" y="4939862"/>
              <a:ext cx="3657600" cy="1208690"/>
            </a:xfrm>
            <a:prstGeom prst="roundRect">
              <a:avLst/>
            </a:prstGeom>
            <a:ln>
              <a:solidFill>
                <a:srgbClr val="EE107F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" name="Rectangle 1"/>
            <p:cNvSpPr/>
            <p:nvPr/>
          </p:nvSpPr>
          <p:spPr>
            <a:xfrm>
              <a:off x="8040252" y="5097931"/>
              <a:ext cx="3153427" cy="892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vi-VN" sz="2800" b="1" dirty="0">
                  <a:solidFill>
                    <a:schemeClr val="accent3"/>
                  </a:solidFill>
                  <a:latin typeface="Open Sans"/>
                </a:rPr>
                <a:t>30% </a:t>
              </a:r>
              <a:endParaRPr lang="en-US" sz="2800" b="1" dirty="0">
                <a:solidFill>
                  <a:schemeClr val="accent3"/>
                </a:solidFill>
                <a:latin typeface="Open Sans"/>
              </a:endParaRPr>
            </a:p>
            <a:p>
              <a:pPr algn="ctr"/>
              <a:r>
                <a:rPr lang="vi-VN" sz="2400" b="1" dirty="0">
                  <a:solidFill>
                    <a:srgbClr val="EE107F"/>
                  </a:solidFill>
                  <a:latin typeface="Open Sans"/>
                </a:rPr>
                <a:t>không rõ nguồn gốc</a:t>
              </a:r>
              <a:endParaRPr lang="vi-VN" sz="2400" b="1" dirty="0">
                <a:solidFill>
                  <a:prstClr val="black"/>
                </a:solidFill>
                <a:latin typeface="Open Sans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295536" y="5500082"/>
            <a:ext cx="4212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chemeClr val="accent6">
                    <a:lumMod val="75000"/>
                  </a:schemeClr>
                </a:solidFill>
                <a:latin typeface="Open Sans"/>
              </a:rPr>
              <a:t>Gây hại cho da và hệ miễn dịch của bé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450" y="3544762"/>
            <a:ext cx="2039683" cy="17556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2" descr="Image result for nguồn gốc dầu gội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2" t="-1053" r="3213" b="5741"/>
          <a:stretch/>
        </p:blipFill>
        <p:spPr bwMode="auto">
          <a:xfrm>
            <a:off x="8630747" y="3544762"/>
            <a:ext cx="2140606" cy="17413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Down Arrow 11"/>
          <p:cNvSpPr/>
          <p:nvPr/>
        </p:nvSpPr>
        <p:spPr>
          <a:xfrm>
            <a:off x="8034801" y="2840155"/>
            <a:ext cx="547614" cy="546538"/>
          </a:xfrm>
          <a:prstGeom prst="downArrow">
            <a:avLst/>
          </a:prstGeom>
          <a:noFill/>
          <a:ln>
            <a:solidFill>
              <a:srgbClr val="EE10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6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307215" y="1616911"/>
            <a:ext cx="7681133" cy="5241089"/>
            <a:chOff x="1483246" y="568288"/>
            <a:chExt cx="10053483" cy="6859822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46354">
              <a:off x="7033478" y="2285241"/>
              <a:ext cx="4334066" cy="313015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7927">
              <a:off x="1483246" y="2256933"/>
              <a:ext cx="4334066" cy="3130158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6469" y="568288"/>
              <a:ext cx="4487849" cy="501736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02854">
              <a:off x="1942224" y="3017162"/>
              <a:ext cx="3208729" cy="334920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80209">
              <a:off x="6859772" y="3470485"/>
              <a:ext cx="4676957" cy="3371262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2080" y="3868481"/>
              <a:ext cx="3559629" cy="3559629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102" y="4800975"/>
              <a:ext cx="2299765" cy="1854200"/>
            </a:xfrm>
            <a:prstGeom prst="rect">
              <a:avLst/>
            </a:prstGeom>
          </p:spPr>
        </p:pic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033" y="536391"/>
            <a:ext cx="1679677" cy="657215"/>
          </a:xfrm>
          <a:prstGeom prst="rect">
            <a:avLst/>
          </a:prstGeom>
        </p:spPr>
      </p:pic>
      <p:pic>
        <p:nvPicPr>
          <p:cNvPr id="25" name="Picture 2" descr="Không có văn bản thay thế tự động nào.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5700" y="1323198"/>
            <a:ext cx="1194627" cy="119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1" y="361507"/>
            <a:ext cx="2813040" cy="1875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57680" y="719491"/>
            <a:ext cx="6923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98AD69"/>
                </a:solidFill>
                <a:latin typeface="Open Sans"/>
              </a:rPr>
              <a:t>NƯỚC TẮM THẢO DƯỢC CHO BÉ </a:t>
            </a:r>
          </a:p>
          <a:p>
            <a:pPr algn="ctr"/>
            <a:r>
              <a:rPr lang="en-US" sz="2400" b="1">
                <a:solidFill>
                  <a:srgbClr val="C00000"/>
                </a:solidFill>
                <a:latin typeface="Open Sans"/>
              </a:rPr>
              <a:t>TẮM KHÔNG TRÁNG ĐẦU TIÊN TẠI VIỆT NAM</a:t>
            </a:r>
            <a:endParaRPr lang="en-US" sz="2400" b="1" dirty="0">
              <a:solidFill>
                <a:srgbClr val="C00000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1079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2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59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7094483" y="3008586"/>
            <a:ext cx="712076" cy="911773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129750" y="1017355"/>
            <a:ext cx="3468414" cy="489423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sz="2000">
              <a:solidFill>
                <a:schemeClr val="bg1"/>
              </a:solidFill>
              <a:latin typeface="Open San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502867" y="1451228"/>
            <a:ext cx="2722180" cy="4026485"/>
            <a:chOff x="8502868" y="1560264"/>
            <a:chExt cx="2722180" cy="4026485"/>
          </a:xfrm>
        </p:grpSpPr>
        <p:sp>
          <p:nvSpPr>
            <p:cNvPr id="8" name="TextBox 7"/>
            <p:cNvSpPr txBox="1"/>
            <p:nvPr/>
          </p:nvSpPr>
          <p:spPr>
            <a:xfrm>
              <a:off x="8502868" y="1560264"/>
              <a:ext cx="27221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Không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cần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tráng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lại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bằng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nước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thường</a:t>
              </a:r>
              <a:endParaRPr lang="en-US" sz="2000" dirty="0">
                <a:solidFill>
                  <a:schemeClr val="bg1"/>
                </a:solidFill>
                <a:latin typeface="Open San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02869" y="2461279"/>
              <a:ext cx="27221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Sử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dụng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lâu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dài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không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gây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tác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dụng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phụ</a:t>
              </a:r>
              <a:endParaRPr lang="en-US" sz="2000" dirty="0">
                <a:solidFill>
                  <a:schemeClr val="bg1"/>
                </a:solidFill>
                <a:latin typeface="Open San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02869" y="3670071"/>
              <a:ext cx="27221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An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toàn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cho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cả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làn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da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nhạy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cảm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nhất</a:t>
              </a:r>
              <a:endParaRPr lang="en-US" sz="2000" dirty="0">
                <a:solidFill>
                  <a:schemeClr val="bg1"/>
                </a:solidFill>
                <a:latin typeface="Open San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502868" y="4571086"/>
              <a:ext cx="27221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Sử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dụng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được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cho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các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bé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ngay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sau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khi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sinh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tại</a:t>
              </a:r>
              <a:r>
                <a:rPr lang="en-US" sz="2000" dirty="0">
                  <a:solidFill>
                    <a:schemeClr val="bg1"/>
                  </a:solidFill>
                  <a:latin typeface="Open Sans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Open Sans"/>
                </a:rPr>
                <a:t>viện</a:t>
              </a:r>
              <a:endParaRPr lang="en-US" sz="2000" dirty="0">
                <a:solidFill>
                  <a:schemeClr val="bg1"/>
                </a:solidFill>
                <a:latin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359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/>
          <p:cNvSpPr/>
          <p:nvPr/>
        </p:nvSpPr>
        <p:spPr>
          <a:xfrm>
            <a:off x="-1" y="285623"/>
            <a:ext cx="5050972" cy="525020"/>
          </a:xfrm>
          <a:prstGeom prst="homePlate">
            <a:avLst>
              <a:gd name="adj" fmla="val 32664"/>
            </a:avLst>
          </a:prstGeom>
          <a:solidFill>
            <a:srgbClr val="1EA185">
              <a:alpha val="9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CÁC CÁCH DÙNG </a:t>
            </a:r>
            <a:r>
              <a:rPr lang="en-US" sz="2000" b="1" kern="0" noProof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CỦA ELEMIS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9177" y="1985540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Open Sans"/>
              </a:rPr>
              <a:t>Lau </a:t>
            </a:r>
            <a:r>
              <a:rPr lang="en-US" sz="2000" dirty="0" err="1">
                <a:latin typeface="Open Sans"/>
              </a:rPr>
              <a:t>mặt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và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toàn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bộ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cơ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thể</a:t>
            </a:r>
            <a:endParaRPr lang="en-US" sz="2000" dirty="0">
              <a:latin typeface="Ope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9177" y="126075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Tắm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gội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hàng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ngày</a:t>
            </a:r>
            <a:endParaRPr lang="en-US" sz="2000" dirty="0"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9177" y="3804721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Bôi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trực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tiếp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hoặc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thoa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lớp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mỏng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lên</a:t>
            </a:r>
            <a:r>
              <a:rPr lang="en-US" sz="2000" dirty="0">
                <a:latin typeface="Open Sans"/>
              </a:rPr>
              <a:t> 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9177" y="308121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Vệ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sinh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thay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tã</a:t>
            </a:r>
            <a:endParaRPr lang="en-US" sz="2000" dirty="0">
              <a:latin typeface="Open Sans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693024" y="1293214"/>
            <a:ext cx="1586753" cy="376518"/>
          </a:xfrm>
          <a:prstGeom prst="rightArrow">
            <a:avLst/>
          </a:prstGeom>
          <a:solidFill>
            <a:schemeClr val="accent3"/>
          </a:solidFill>
          <a:ln>
            <a:solidFill>
              <a:srgbClr val="9BB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750424" y="1143076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Dùng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vệ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sinh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hằng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ngày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bé</a:t>
            </a:r>
            <a:r>
              <a:rPr lang="en-US" sz="2000" dirty="0">
                <a:latin typeface="Open Sans"/>
              </a:rPr>
              <a:t>, </a:t>
            </a:r>
            <a:r>
              <a:rPr lang="en-US" sz="2000" dirty="0" err="1">
                <a:latin typeface="Open Sans"/>
              </a:rPr>
              <a:t>từ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sơ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sinh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đến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trẻ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nhỏ</a:t>
            </a:r>
            <a:endParaRPr lang="en-US" sz="2000" dirty="0">
              <a:latin typeface="Open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693024" y="2147185"/>
            <a:ext cx="1586753" cy="376518"/>
          </a:xfrm>
          <a:prstGeom prst="rightArrow">
            <a:avLst/>
          </a:prstGeom>
          <a:solidFill>
            <a:schemeClr val="accent3"/>
          </a:solidFill>
          <a:ln>
            <a:solidFill>
              <a:srgbClr val="9BB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50424" y="1947130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Áp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bị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chàm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sữa</a:t>
            </a:r>
            <a:r>
              <a:rPr lang="en-US" sz="2000" dirty="0">
                <a:latin typeface="Open Sans"/>
              </a:rPr>
              <a:t>, </a:t>
            </a:r>
            <a:r>
              <a:rPr lang="en-US" sz="2000" dirty="0" err="1">
                <a:latin typeface="Open Sans"/>
              </a:rPr>
              <a:t>rôm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sảy</a:t>
            </a:r>
            <a:r>
              <a:rPr lang="en-US" sz="2000" dirty="0">
                <a:latin typeface="Open Sans"/>
              </a:rPr>
              <a:t>, </a:t>
            </a:r>
            <a:r>
              <a:rPr lang="en-US" sz="2000" dirty="0" err="1">
                <a:latin typeface="Open Sans"/>
              </a:rPr>
              <a:t>thủy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đậu</a:t>
            </a:r>
            <a:r>
              <a:rPr lang="en-US" sz="2000" dirty="0">
                <a:latin typeface="Open Sans"/>
              </a:rPr>
              <a:t>,… (</a:t>
            </a:r>
            <a:r>
              <a:rPr lang="en-US" sz="2000" dirty="0" err="1">
                <a:latin typeface="Open Sans"/>
              </a:rPr>
              <a:t>cách</a:t>
            </a:r>
            <a:r>
              <a:rPr lang="en-US" sz="2000" dirty="0">
                <a:latin typeface="Open Sans"/>
              </a:rPr>
              <a:t> 4-6h </a:t>
            </a:r>
            <a:r>
              <a:rPr lang="en-US" sz="2000" dirty="0" err="1">
                <a:latin typeface="Open Sans"/>
              </a:rPr>
              <a:t>lau</a:t>
            </a:r>
            <a:r>
              <a:rPr lang="en-US" sz="2000" dirty="0">
                <a:latin typeface="Open Sans"/>
              </a:rPr>
              <a:t> 1 </a:t>
            </a:r>
            <a:r>
              <a:rPr lang="en-US" sz="2000" dirty="0" err="1">
                <a:latin typeface="Open Sans"/>
              </a:rPr>
              <a:t>lần</a:t>
            </a:r>
            <a:r>
              <a:rPr lang="en-US" sz="2000" dirty="0">
                <a:latin typeface="Open Sans"/>
              </a:rPr>
              <a:t>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93024" y="3037931"/>
            <a:ext cx="1586753" cy="376518"/>
          </a:xfrm>
          <a:prstGeom prst="rightArrow">
            <a:avLst/>
          </a:prstGeom>
          <a:solidFill>
            <a:schemeClr val="accent3"/>
          </a:solidFill>
          <a:ln>
            <a:solidFill>
              <a:srgbClr val="9BB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50424" y="2837876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Áp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phòng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chống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hăm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và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điều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trị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hăm</a:t>
            </a:r>
            <a:r>
              <a:rPr lang="en-US" sz="2000" dirty="0">
                <a:latin typeface="Open Sans"/>
              </a:rPr>
              <a:t> (</a:t>
            </a:r>
            <a:r>
              <a:rPr lang="en-US" sz="2000" dirty="0" err="1">
                <a:latin typeface="Open Sans"/>
              </a:rPr>
              <a:t>áp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bé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nặng</a:t>
            </a:r>
            <a:r>
              <a:rPr lang="en-US" sz="2000" dirty="0">
                <a:latin typeface="Open Sans"/>
              </a:rPr>
              <a:t>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93024" y="3960194"/>
            <a:ext cx="1586753" cy="376518"/>
          </a:xfrm>
          <a:prstGeom prst="rightArrow">
            <a:avLst/>
          </a:prstGeom>
          <a:solidFill>
            <a:schemeClr val="accent3"/>
          </a:solidFill>
          <a:ln>
            <a:solidFill>
              <a:srgbClr val="9BB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750424" y="3760139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Dùng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bị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rôm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sảy</a:t>
            </a:r>
            <a:r>
              <a:rPr lang="en-US" sz="2000" dirty="0">
                <a:latin typeface="Open Sans"/>
              </a:rPr>
              <a:t>, </a:t>
            </a:r>
            <a:r>
              <a:rPr lang="en-US" sz="2000" dirty="0" err="1">
                <a:latin typeface="Open Sans"/>
              </a:rPr>
              <a:t>côn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trùng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cắn</a:t>
            </a:r>
            <a:r>
              <a:rPr lang="en-US" sz="2000" dirty="0">
                <a:latin typeface="Open Sans"/>
              </a:rPr>
              <a:t>, </a:t>
            </a:r>
            <a:r>
              <a:rPr lang="en-US" sz="2000" dirty="0" err="1">
                <a:latin typeface="Open Sans"/>
              </a:rPr>
              <a:t>phòng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chống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muỗi</a:t>
            </a:r>
            <a:endParaRPr lang="en-US" sz="2000" dirty="0">
              <a:latin typeface="Open Sa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37130" y="4821687"/>
            <a:ext cx="10085294" cy="847283"/>
          </a:xfrm>
          <a:prstGeom prst="rect">
            <a:avLst/>
          </a:prstGeom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333"/>
              </a:spcAft>
            </a:pP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bé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viêm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nhau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b="1" i="1" dirty="0" err="1">
                <a:solidFill>
                  <a:srgbClr val="CC33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133" b="1" i="1" dirty="0">
                <a:solidFill>
                  <a:srgbClr val="CC33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b="1" i="1" dirty="0" err="1">
                <a:solidFill>
                  <a:srgbClr val="CC33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2133" b="1" i="1" dirty="0">
                <a:solidFill>
                  <a:srgbClr val="CC33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nhau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133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33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endParaRPr lang="vi-VN" sz="1867" b="1" i="1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37130" y="6014037"/>
            <a:ext cx="10085293" cy="582249"/>
          </a:xfrm>
          <a:prstGeom prst="rect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rgbClr val="CC3300"/>
                </a:solidFill>
                <a:latin typeface="Times New Roman" panose="02020603050405020304" pitchFamily="18" charset="0"/>
              </a:rPr>
              <a:t>99% </a:t>
            </a:r>
            <a:r>
              <a:rPr lang="en-US" sz="2000" i="1" dirty="0" err="1">
                <a:latin typeface="Times New Roman" panose="02020603050405020304" pitchFamily="18" charset="0"/>
              </a:rPr>
              <a:t>Phản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hồi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từ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các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bé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CC3300"/>
                </a:solidFill>
                <a:latin typeface="Times New Roman" panose="02020603050405020304" pitchFamily="18" charset="0"/>
              </a:rPr>
              <a:t>không</a:t>
            </a:r>
            <a:r>
              <a:rPr lang="en-US" sz="2000" b="1" i="1" dirty="0">
                <a:solidFill>
                  <a:srgbClr val="CC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rgbClr val="CC3300"/>
                </a:solidFill>
                <a:latin typeface="Times New Roman" panose="02020603050405020304" pitchFamily="18" charset="0"/>
              </a:rPr>
              <a:t>có</a:t>
            </a:r>
            <a:r>
              <a:rPr lang="en-US" sz="2000" b="1" i="1" dirty="0">
                <a:solidFill>
                  <a:srgbClr val="CC33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hiện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tượng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hăm</a:t>
            </a:r>
            <a:r>
              <a:rPr lang="en-US" sz="2000" i="1" dirty="0">
                <a:latin typeface="Times New Roman" panose="02020603050405020304" pitchFamily="18" charset="0"/>
              </a:rPr>
              <a:t> hay </a:t>
            </a:r>
            <a:r>
              <a:rPr lang="en-US" sz="2000" i="1" dirty="0" err="1">
                <a:latin typeface="Times New Roman" panose="02020603050405020304" pitchFamily="18" charset="0"/>
              </a:rPr>
              <a:t>viêm</a:t>
            </a:r>
            <a:r>
              <a:rPr lang="en-US" sz="2000" i="1" dirty="0">
                <a:latin typeface="Times New Roman" panose="02020603050405020304" pitchFamily="18" charset="0"/>
              </a:rPr>
              <a:t> da </a:t>
            </a:r>
            <a:r>
              <a:rPr lang="en-US" sz="2000" i="1" dirty="0" err="1">
                <a:latin typeface="Times New Roman" panose="02020603050405020304" pitchFamily="18" charset="0"/>
              </a:rPr>
              <a:t>nếu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sử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dụng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từ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ngay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sau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khi</a:t>
            </a:r>
            <a:r>
              <a:rPr lang="en-US" sz="2000" i="1" dirty="0">
                <a:latin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</a:rPr>
              <a:t>sinh</a:t>
            </a:r>
            <a:endParaRPr lang="vi-VN" sz="2000" i="1" dirty="0">
              <a:latin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143" y="21057"/>
            <a:ext cx="1907857" cy="127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4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47750" y="1057150"/>
            <a:ext cx="10039351" cy="2027435"/>
            <a:chOff x="1117601" y="969679"/>
            <a:chExt cx="10376399" cy="2095501"/>
          </a:xfrm>
        </p:grpSpPr>
        <p:pic>
          <p:nvPicPr>
            <p:cNvPr id="2051" name="Picture 3" descr="C:\Users\Lenovo\Desktop\SẢN PHẨM\ELEMIS\Cach-tam-Elemis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4001" y="969680"/>
              <a:ext cx="4889999" cy="20955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pic>
        <p:pic>
          <p:nvPicPr>
            <p:cNvPr id="2052" name="Picture 4" descr="C:\Users\Lenovo\Desktop\SẢN PHẨM\ELEMIS\chuẩn bị nước tắm(1)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37" b="11506"/>
            <a:stretch/>
          </p:blipFill>
          <p:spPr bwMode="auto">
            <a:xfrm>
              <a:off x="1117601" y="969679"/>
              <a:ext cx="4746703" cy="20955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pic>
      </p:grpSp>
      <p:grpSp>
        <p:nvGrpSpPr>
          <p:cNvPr id="2" name="Group 1"/>
          <p:cNvGrpSpPr/>
          <p:nvPr/>
        </p:nvGrpSpPr>
        <p:grpSpPr>
          <a:xfrm>
            <a:off x="1047750" y="3303873"/>
            <a:ext cx="10039350" cy="3142688"/>
            <a:chOff x="1117601" y="3189244"/>
            <a:chExt cx="10376398" cy="3248196"/>
          </a:xfrm>
        </p:grpSpPr>
        <p:pic>
          <p:nvPicPr>
            <p:cNvPr id="2050" name="Picture 2" descr="C:\Users\Lenovo\Desktop\SẢN PHẨM\ELEMIS\Lau-kho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2543"/>
            <a:stretch/>
          </p:blipFill>
          <p:spPr bwMode="auto">
            <a:xfrm>
              <a:off x="1117601" y="3806901"/>
              <a:ext cx="4746703" cy="2017461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pic>
        <p:pic>
          <p:nvPicPr>
            <p:cNvPr id="2053" name="Picture 5" descr="C:\Users\Lenovo\Downloads\Tri-mun-nhot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4000" y="3799503"/>
              <a:ext cx="4889999" cy="2024859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pic>
        <p:sp>
          <p:nvSpPr>
            <p:cNvPr id="5" name="TextBox 4"/>
            <p:cNvSpPr txBox="1"/>
            <p:nvPr/>
          </p:nvSpPr>
          <p:spPr>
            <a:xfrm>
              <a:off x="2907243" y="3189244"/>
              <a:ext cx="12779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Bước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 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36000" y="3189324"/>
              <a:ext cx="12779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Bước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 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07243" y="5975775"/>
              <a:ext cx="12779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Bước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 3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699501" y="5975775"/>
              <a:ext cx="10390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chemeClr val="accent6">
                      <a:lumMod val="75000"/>
                    </a:schemeClr>
                  </a:solidFill>
                  <a:latin typeface="Open Sans"/>
                </a:rPr>
                <a:t>Lưu ý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  <a:latin typeface="Open Sans"/>
              </a:endParaRPr>
            </a:p>
          </p:txBody>
        </p:sp>
      </p:grpSp>
      <p:sp>
        <p:nvSpPr>
          <p:cNvPr id="13" name="Pentagon 12"/>
          <p:cNvSpPr/>
          <p:nvPr/>
        </p:nvSpPr>
        <p:spPr>
          <a:xfrm>
            <a:off x="-1" y="285623"/>
            <a:ext cx="6486526" cy="525020"/>
          </a:xfrm>
          <a:prstGeom prst="homePlate">
            <a:avLst>
              <a:gd name="adj" fmla="val 32664"/>
            </a:avLst>
          </a:prstGeom>
          <a:solidFill>
            <a:srgbClr val="1EA185">
              <a:alpha val="9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HƯỚNG DẪN TẮM GỘI HẰNG NGÀY CÙNG </a:t>
            </a:r>
            <a:r>
              <a:rPr lang="en-US" b="1" kern="0" noProof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ELEMIS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cs typeface="Arial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421" y="21056"/>
            <a:ext cx="2045579" cy="136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9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entagon 5"/>
          <p:cNvSpPr/>
          <p:nvPr/>
        </p:nvSpPr>
        <p:spPr>
          <a:xfrm>
            <a:off x="-1" y="285623"/>
            <a:ext cx="5691285" cy="525020"/>
          </a:xfrm>
          <a:prstGeom prst="homePlate">
            <a:avLst>
              <a:gd name="adj" fmla="val 32664"/>
            </a:avLst>
          </a:prstGeom>
          <a:solidFill>
            <a:srgbClr val="1EA185">
              <a:alpha val="9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HƯỚNG DẪN HỖ TRỢ ĐIỀU TRỊ CHÀM SỮA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123558" y="1024269"/>
            <a:ext cx="3029996" cy="5464867"/>
            <a:chOff x="1204240" y="1279764"/>
            <a:chExt cx="2991243" cy="539497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20" b="15144"/>
            <a:stretch/>
          </p:blipFill>
          <p:spPr>
            <a:xfrm>
              <a:off x="1204240" y="3524654"/>
              <a:ext cx="2991243" cy="315008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4240" y="1279764"/>
              <a:ext cx="2991243" cy="2244890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6535269" y="1078320"/>
            <a:ext cx="4652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Pha</a:t>
            </a:r>
            <a:r>
              <a:rPr lang="en-US" sz="2000" dirty="0">
                <a:latin typeface="Open Sans"/>
              </a:rPr>
              <a:t> Elemis </a:t>
            </a:r>
            <a:r>
              <a:rPr lang="en-US" sz="2000" dirty="0" err="1">
                <a:latin typeface="Open Sans"/>
              </a:rPr>
              <a:t>theo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tỷ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lệ</a:t>
            </a:r>
            <a:r>
              <a:rPr lang="en-US" sz="2000" dirty="0">
                <a:latin typeface="Open Sans"/>
              </a:rPr>
              <a:t> 5ml Elemis: 5L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Tắm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gội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hàng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ngày</a:t>
            </a:r>
            <a:endParaRPr lang="en-US" sz="2000" dirty="0">
              <a:latin typeface="Open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693024" y="1244004"/>
            <a:ext cx="1586753" cy="376518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693023" y="2275679"/>
            <a:ext cx="1586753" cy="376518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535267" y="2002550"/>
            <a:ext cx="46526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Pha</a:t>
            </a:r>
            <a:r>
              <a:rPr lang="en-US" sz="2000" dirty="0">
                <a:latin typeface="Open Sans"/>
              </a:rPr>
              <a:t> Elemis </a:t>
            </a:r>
            <a:r>
              <a:rPr lang="en-US" sz="2000" dirty="0" err="1">
                <a:latin typeface="Open Sans"/>
              </a:rPr>
              <a:t>theo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tỷ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lệ</a:t>
            </a:r>
            <a:r>
              <a:rPr lang="en-US" sz="2000" dirty="0">
                <a:latin typeface="Open Sans"/>
              </a:rPr>
              <a:t> 2ml Elemis: 2L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sạch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Lau </a:t>
            </a:r>
            <a:r>
              <a:rPr lang="en-US" sz="2000" dirty="0" err="1">
                <a:latin typeface="Open Sans"/>
              </a:rPr>
              <a:t>mặt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bé</a:t>
            </a:r>
            <a:r>
              <a:rPr lang="en-US" sz="2000" dirty="0">
                <a:latin typeface="Open Sans"/>
              </a:rPr>
              <a:t> (</a:t>
            </a:r>
            <a:r>
              <a:rPr lang="en-US" sz="2000" dirty="0" err="1">
                <a:latin typeface="Open Sans"/>
              </a:rPr>
              <a:t>cách</a:t>
            </a:r>
            <a:r>
              <a:rPr lang="en-US" sz="2000" dirty="0">
                <a:latin typeface="Open Sans"/>
              </a:rPr>
              <a:t> 4-6h </a:t>
            </a:r>
            <a:r>
              <a:rPr lang="en-US" sz="2000" dirty="0" err="1">
                <a:latin typeface="Open Sans"/>
              </a:rPr>
              <a:t>lau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một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lần</a:t>
            </a:r>
            <a:r>
              <a:rPr lang="en-US" sz="2000" dirty="0">
                <a:latin typeface="Open Sans"/>
              </a:rPr>
              <a:t>)</a:t>
            </a:r>
          </a:p>
        </p:txBody>
      </p:sp>
      <p:sp>
        <p:nvSpPr>
          <p:cNvPr id="14" name="Cross 13"/>
          <p:cNvSpPr/>
          <p:nvPr/>
        </p:nvSpPr>
        <p:spPr>
          <a:xfrm>
            <a:off x="5281514" y="1751689"/>
            <a:ext cx="409770" cy="409770"/>
          </a:xfrm>
          <a:prstGeom prst="plus">
            <a:avLst>
              <a:gd name="adj" fmla="val 3484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535269" y="3235260"/>
            <a:ext cx="4652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Không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sử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ấm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mà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sử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có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nhiệt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độ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vừa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phải</a:t>
            </a:r>
            <a:r>
              <a:rPr lang="en-US" sz="2000" dirty="0">
                <a:latin typeface="Open Sans"/>
              </a:rPr>
              <a:t> (36-37 </a:t>
            </a:r>
            <a:r>
              <a:rPr lang="en-US" sz="2000" dirty="0" err="1">
                <a:latin typeface="Open Sans"/>
              </a:rPr>
              <a:t>độ</a:t>
            </a:r>
            <a:r>
              <a:rPr lang="en-US" sz="2000" dirty="0">
                <a:latin typeface="Open Sans"/>
              </a:rPr>
              <a:t> C)</a:t>
            </a:r>
          </a:p>
        </p:txBody>
      </p:sp>
      <p:sp>
        <p:nvSpPr>
          <p:cNvPr id="17" name="Cross 16"/>
          <p:cNvSpPr/>
          <p:nvPr/>
        </p:nvSpPr>
        <p:spPr>
          <a:xfrm>
            <a:off x="5281514" y="2734862"/>
            <a:ext cx="409770" cy="409770"/>
          </a:xfrm>
          <a:prstGeom prst="plus">
            <a:avLst>
              <a:gd name="adj" fmla="val 3484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535268" y="4171661"/>
            <a:ext cx="4652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Dùng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khăn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ẩm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lau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sạch</a:t>
            </a:r>
            <a:r>
              <a:rPr lang="en-US" sz="2000" dirty="0">
                <a:latin typeface="Open Sans"/>
              </a:rPr>
              <a:t> da </a:t>
            </a:r>
            <a:r>
              <a:rPr lang="en-US" sz="2000" dirty="0" err="1">
                <a:latin typeface="Open Sans"/>
              </a:rPr>
              <a:t>bé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bé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bú</a:t>
            </a:r>
            <a:r>
              <a:rPr lang="en-US" sz="2000" dirty="0">
                <a:latin typeface="Open Sans"/>
              </a:rPr>
              <a:t> hay </a:t>
            </a:r>
            <a:r>
              <a:rPr lang="en-US" sz="2000" dirty="0" err="1">
                <a:latin typeface="Open Sans"/>
              </a:rPr>
              <a:t>ăn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Dặm</a:t>
            </a:r>
            <a:endParaRPr lang="en-US" sz="2000" dirty="0">
              <a:latin typeface="Open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93023" y="5167528"/>
            <a:ext cx="6494930" cy="1321608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Open Sans"/>
              </a:rPr>
              <a:t>TH </a:t>
            </a:r>
            <a:r>
              <a:rPr lang="en-US" sz="2000" dirty="0" err="1">
                <a:latin typeface="Open Sans"/>
              </a:rPr>
              <a:t>Chàm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sữa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tùy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mức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độ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và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thời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gian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mắc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bệnh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mà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sẽ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mất</a:t>
            </a:r>
            <a:r>
              <a:rPr lang="en-US" sz="2000" dirty="0">
                <a:latin typeface="Open Sans"/>
              </a:rPr>
              <a:t> </a:t>
            </a:r>
            <a:r>
              <a:rPr lang="en-US" sz="2000" err="1">
                <a:latin typeface="Open Sans"/>
              </a:rPr>
              <a:t>từ</a:t>
            </a:r>
            <a:r>
              <a:rPr lang="en-US" sz="2000">
                <a:latin typeface="Open Sans"/>
              </a:rPr>
              <a:t> </a:t>
            </a:r>
            <a:r>
              <a:rPr lang="en-US" sz="2000" b="1">
                <a:solidFill>
                  <a:srgbClr val="CC3300"/>
                </a:solidFill>
                <a:latin typeface="Open Sans"/>
              </a:rPr>
              <a:t>7-12 </a:t>
            </a:r>
            <a:r>
              <a:rPr lang="en-US" sz="2000" b="1" dirty="0" err="1">
                <a:solidFill>
                  <a:srgbClr val="CC3300"/>
                </a:solidFill>
                <a:latin typeface="Open Sans"/>
              </a:rPr>
              <a:t>ngày</a:t>
            </a:r>
            <a:r>
              <a:rPr lang="en-US" sz="2000" b="1" dirty="0">
                <a:solidFill>
                  <a:srgbClr val="CC3300"/>
                </a:solidFill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sử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mới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hết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hoàn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toàn</a:t>
            </a:r>
            <a:endParaRPr lang="vi-VN" sz="2000" dirty="0">
              <a:latin typeface="Open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3023" y="3358370"/>
            <a:ext cx="1492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C3300"/>
                </a:solidFill>
              </a:rPr>
              <a:t>LƯU Ý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318" y="21057"/>
            <a:ext cx="1985682" cy="13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68" y="1162683"/>
            <a:ext cx="5354512" cy="229848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67" y="3348233"/>
            <a:ext cx="5354513" cy="28962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39435" y="4823754"/>
            <a:ext cx="5392270" cy="1321608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Open Sans"/>
              </a:rPr>
              <a:t>TH </a:t>
            </a:r>
            <a:r>
              <a:rPr lang="en-US" sz="2400" dirty="0" err="1">
                <a:latin typeface="Open Sans"/>
              </a:rPr>
              <a:t>bé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bị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hăm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thì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chỉ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cần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sau</a:t>
            </a:r>
            <a:r>
              <a:rPr lang="en-US" sz="2400" dirty="0">
                <a:latin typeface="Open Sans"/>
              </a:rPr>
              <a:t> </a:t>
            </a:r>
            <a:r>
              <a:rPr lang="en-US" sz="2400" b="1" dirty="0">
                <a:solidFill>
                  <a:srgbClr val="CC3300"/>
                </a:solidFill>
                <a:latin typeface="Open Sans"/>
              </a:rPr>
              <a:t>2-4 </a:t>
            </a:r>
            <a:r>
              <a:rPr lang="en-US" sz="2400" b="1" dirty="0" err="1">
                <a:solidFill>
                  <a:srgbClr val="CC3300"/>
                </a:solidFill>
                <a:latin typeface="Open Sans"/>
              </a:rPr>
              <a:t>ngày</a:t>
            </a:r>
            <a:r>
              <a:rPr lang="en-US" sz="2400" b="1" dirty="0">
                <a:solidFill>
                  <a:srgbClr val="CC3300"/>
                </a:solidFill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sử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dụng</a:t>
            </a:r>
            <a:r>
              <a:rPr lang="en-US" sz="2400" dirty="0">
                <a:latin typeface="Open Sans"/>
              </a:rPr>
              <a:t> Elemis </a:t>
            </a:r>
            <a:r>
              <a:rPr lang="en-US" sz="2400" dirty="0" err="1">
                <a:latin typeface="Open Sans"/>
              </a:rPr>
              <a:t>sẽ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hết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hoàn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toàn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hăm</a:t>
            </a:r>
            <a:r>
              <a:rPr lang="en-US" sz="2400" dirty="0">
                <a:latin typeface="Open Sans"/>
              </a:rPr>
              <a:t> </a:t>
            </a:r>
            <a:r>
              <a:rPr lang="en-US" sz="2400" dirty="0" err="1">
                <a:latin typeface="Open Sans"/>
              </a:rPr>
              <a:t>tã</a:t>
            </a:r>
            <a:endParaRPr lang="vi-VN" sz="2400" dirty="0">
              <a:latin typeface="Open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59420" y="1162683"/>
            <a:ext cx="3872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Pha</a:t>
            </a:r>
            <a:r>
              <a:rPr lang="en-US" sz="2000" dirty="0">
                <a:latin typeface="Open Sans"/>
              </a:rPr>
              <a:t> Elemis </a:t>
            </a:r>
            <a:r>
              <a:rPr lang="en-US" sz="2000" dirty="0" err="1">
                <a:latin typeface="Open Sans"/>
              </a:rPr>
              <a:t>theo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tỷ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lệ</a:t>
            </a:r>
            <a:r>
              <a:rPr lang="en-US" sz="2000" dirty="0">
                <a:latin typeface="Open Sans"/>
              </a:rPr>
              <a:t> 5ml Elemis: 5L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Tắm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gội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hàng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ngày</a:t>
            </a:r>
            <a:endParaRPr lang="en-US" sz="2000" dirty="0">
              <a:latin typeface="Open San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239436" y="1328367"/>
            <a:ext cx="1210702" cy="376518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6239435" y="2494023"/>
            <a:ext cx="1210702" cy="376518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759418" y="2362710"/>
            <a:ext cx="38722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Pha</a:t>
            </a:r>
            <a:r>
              <a:rPr lang="en-US" sz="2000" dirty="0">
                <a:latin typeface="Open Sans"/>
              </a:rPr>
              <a:t> Elemis </a:t>
            </a:r>
            <a:r>
              <a:rPr lang="en-US" sz="2000" dirty="0" err="1">
                <a:latin typeface="Open Sans"/>
              </a:rPr>
              <a:t>theo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tỷ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lệ</a:t>
            </a:r>
            <a:r>
              <a:rPr lang="en-US" sz="2000" dirty="0">
                <a:latin typeface="Open Sans"/>
              </a:rPr>
              <a:t> 2ml Elemis: 2L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để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vệ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sinh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cho</a:t>
            </a:r>
            <a:r>
              <a:rPr lang="en-US" sz="2000" dirty="0">
                <a:latin typeface="Open Sans"/>
              </a:rPr>
              <a:t>  </a:t>
            </a:r>
            <a:r>
              <a:rPr lang="en-US" sz="2000" dirty="0" err="1">
                <a:latin typeface="Open Sans"/>
              </a:rPr>
              <a:t>bé</a:t>
            </a:r>
            <a:r>
              <a:rPr lang="en-US" sz="2000" dirty="0">
                <a:latin typeface="Open Sans"/>
              </a:rPr>
              <a:t> (</a:t>
            </a:r>
            <a:r>
              <a:rPr lang="en-US" sz="2000" dirty="0" err="1">
                <a:latin typeface="Open Sans"/>
              </a:rPr>
              <a:t>Đặc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biệt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khi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đi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nặng</a:t>
            </a:r>
            <a:r>
              <a:rPr lang="en-US" sz="2000" dirty="0">
                <a:latin typeface="Open Sans"/>
              </a:rPr>
              <a:t>)</a:t>
            </a:r>
          </a:p>
        </p:txBody>
      </p:sp>
      <p:sp>
        <p:nvSpPr>
          <p:cNvPr id="15" name="Cross 14"/>
          <p:cNvSpPr/>
          <p:nvPr/>
        </p:nvSpPr>
        <p:spPr>
          <a:xfrm>
            <a:off x="6561695" y="1882028"/>
            <a:ext cx="457394" cy="480682"/>
          </a:xfrm>
          <a:prstGeom prst="plus">
            <a:avLst>
              <a:gd name="adj" fmla="val 3484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098474" y="3503610"/>
            <a:ext cx="1492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C3300"/>
                </a:solidFill>
              </a:rPr>
              <a:t>LƯU 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9418" y="3573924"/>
            <a:ext cx="387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Open Sans"/>
              </a:rPr>
              <a:t>Không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sử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ấm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mà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sử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dụng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nước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có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nhiệt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độ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vừa</a:t>
            </a:r>
            <a:r>
              <a:rPr lang="en-US" sz="2000" dirty="0">
                <a:latin typeface="Open Sans"/>
              </a:rPr>
              <a:t> </a:t>
            </a:r>
            <a:r>
              <a:rPr lang="en-US" sz="2000" dirty="0" err="1">
                <a:latin typeface="Open Sans"/>
              </a:rPr>
              <a:t>phải</a:t>
            </a:r>
            <a:r>
              <a:rPr lang="en-US" sz="2000" dirty="0">
                <a:latin typeface="Open Sans"/>
              </a:rPr>
              <a:t> (36-37 </a:t>
            </a:r>
            <a:r>
              <a:rPr lang="en-US" sz="2000" dirty="0" err="1">
                <a:latin typeface="Open Sans"/>
              </a:rPr>
              <a:t>độ</a:t>
            </a:r>
            <a:r>
              <a:rPr lang="en-US" sz="2000" dirty="0">
                <a:latin typeface="Open Sans"/>
              </a:rPr>
              <a:t> C)</a:t>
            </a:r>
          </a:p>
        </p:txBody>
      </p:sp>
      <p:sp>
        <p:nvSpPr>
          <p:cNvPr id="18" name="Pentagon 17"/>
          <p:cNvSpPr/>
          <p:nvPr/>
        </p:nvSpPr>
        <p:spPr>
          <a:xfrm>
            <a:off x="-1" y="285623"/>
            <a:ext cx="6098475" cy="525020"/>
          </a:xfrm>
          <a:prstGeom prst="homePlate">
            <a:avLst>
              <a:gd name="adj" fmla="val 32664"/>
            </a:avLst>
          </a:prstGeom>
          <a:solidFill>
            <a:srgbClr val="1EA185">
              <a:alpha val="9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HƯỚNG DẪN HỖ TRỢ ĐIỀU TRỊ HĂM TÃ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cs typeface="Arial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294" y="21056"/>
            <a:ext cx="2106706" cy="140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573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8217" y="327888"/>
            <a:ext cx="56449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9BBB59"/>
                </a:solidFill>
                <a:latin typeface="Open Sans"/>
              </a:rPr>
              <a:t>HỒ SƠ ĐĂNG KÝ – CHỨNG NHẬN ĐẦY ĐỦ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756" y="1263711"/>
            <a:ext cx="2739080" cy="3884789"/>
          </a:xfrm>
          <a:prstGeom prst="rect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213" y="1281341"/>
            <a:ext cx="2732927" cy="3876063"/>
          </a:xfrm>
          <a:prstGeom prst="rect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851" y="1281341"/>
            <a:ext cx="2715896" cy="3876063"/>
          </a:xfrm>
          <a:prstGeom prst="rect">
            <a:avLst/>
          </a:prstGeom>
          <a:ln w="38100"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094034" y="5436458"/>
            <a:ext cx="2636802" cy="520563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Kiểm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nghiệm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tại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viện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Kiểm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nghiệm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thuốc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trung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ương</a:t>
            </a:r>
            <a:endParaRPr lang="vi-VN" sz="1400" dirty="0">
              <a:solidFill>
                <a:schemeClr val="tx1">
                  <a:lumMod val="65000"/>
                  <a:lumOff val="35000"/>
                </a:schemeClr>
              </a:solidFill>
              <a:latin typeface="Arial (Body)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318570" y="5449722"/>
            <a:ext cx="2653065" cy="520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Giấy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công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bố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sản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phẩm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với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SỞ Y TẾ</a:t>
            </a:r>
            <a:endParaRPr lang="vi-VN" sz="1400" dirty="0">
              <a:solidFill>
                <a:schemeClr val="tx1">
                  <a:lumMod val="65000"/>
                  <a:lumOff val="35000"/>
                </a:schemeClr>
              </a:solidFill>
              <a:latin typeface="Arial (Body)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914060" y="5454266"/>
            <a:ext cx="2108551" cy="520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Phiếu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kiểm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nghiệm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viện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(Body)"/>
              </a:rPr>
              <a:t> Pasteur</a:t>
            </a:r>
            <a:endParaRPr lang="vi-VN" sz="1400" dirty="0">
              <a:solidFill>
                <a:schemeClr val="tx1">
                  <a:lumMod val="65000"/>
                  <a:lumOff val="35000"/>
                </a:schemeClr>
              </a:solidFill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4102866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/>
          <p:cNvSpPr/>
          <p:nvPr/>
        </p:nvSpPr>
        <p:spPr>
          <a:xfrm>
            <a:off x="0" y="218989"/>
            <a:ext cx="4819650" cy="564782"/>
          </a:xfrm>
          <a:prstGeom prst="homePlate">
            <a:avLst>
              <a:gd name="adj" fmla="val 32664"/>
            </a:avLst>
          </a:prstGeom>
          <a:solidFill>
            <a:srgbClr val="1EA185">
              <a:alpha val="9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b="1" kern="0" dirty="0">
                <a:solidFill>
                  <a:srgbClr val="FFFFFF"/>
                </a:solidFill>
                <a:latin typeface="Open Sans"/>
                <a:cs typeface="Arial" pitchFamily="34" charset="0"/>
              </a:rPr>
              <a:t>ĐẶC ĐIỂM NỔI TRỘI CỦA ELEMIS</a:t>
            </a:r>
          </a:p>
        </p:txBody>
      </p:sp>
      <p:sp>
        <p:nvSpPr>
          <p:cNvPr id="30" name="Shape 374"/>
          <p:cNvSpPr/>
          <p:nvPr/>
        </p:nvSpPr>
        <p:spPr>
          <a:xfrm>
            <a:off x="1636713" y="1024910"/>
            <a:ext cx="1080513" cy="10805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EA18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r>
              <a:rPr lang="en-US" sz="1600" b="1" kern="0" dirty="0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  <a:endParaRPr sz="1600" b="1" kern="0" dirty="0">
              <a:solidFill>
                <a:srgbClr val="FFFFFF"/>
              </a:solidFill>
              <a:latin typeface="Open Sans"/>
              <a:cs typeface="Open Sans"/>
            </a:endParaRPr>
          </a:p>
        </p:txBody>
      </p:sp>
      <p:sp>
        <p:nvSpPr>
          <p:cNvPr id="33" name="Shape 379"/>
          <p:cNvSpPr/>
          <p:nvPr/>
        </p:nvSpPr>
        <p:spPr>
          <a:xfrm>
            <a:off x="9014769" y="993132"/>
            <a:ext cx="1080514" cy="1080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EA18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r>
              <a:rPr lang="en-US" sz="1600" b="1" kern="0" dirty="0">
                <a:solidFill>
                  <a:srgbClr val="FFFFFF"/>
                </a:solidFill>
                <a:latin typeface="Open Sans"/>
                <a:cs typeface="Open Sans"/>
              </a:rPr>
              <a:t>5</a:t>
            </a:r>
            <a:endParaRPr sz="1600" b="1" kern="0" dirty="0">
              <a:solidFill>
                <a:srgbClr val="FFFFFF"/>
              </a:solidFill>
              <a:latin typeface="Open Sans"/>
              <a:cs typeface="Open Sans"/>
            </a:endParaRPr>
          </a:p>
        </p:txBody>
      </p:sp>
      <p:sp>
        <p:nvSpPr>
          <p:cNvPr id="36" name="Shape 384"/>
          <p:cNvSpPr/>
          <p:nvPr/>
        </p:nvSpPr>
        <p:spPr>
          <a:xfrm>
            <a:off x="5274919" y="1024910"/>
            <a:ext cx="1080513" cy="1080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EA18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r>
              <a:rPr lang="en-US" sz="1600" b="1" kern="0" dirty="0">
                <a:solidFill>
                  <a:srgbClr val="FFFFFF"/>
                </a:solidFill>
                <a:latin typeface="Open Sans"/>
                <a:cs typeface="Open Sans"/>
              </a:rPr>
              <a:t>3</a:t>
            </a:r>
            <a:endParaRPr sz="1600" b="1" kern="0" dirty="0">
              <a:solidFill>
                <a:srgbClr val="FFFFFF"/>
              </a:solidFill>
              <a:latin typeface="Open Sans"/>
              <a:cs typeface="Open Sans"/>
            </a:endParaRPr>
          </a:p>
        </p:txBody>
      </p:sp>
      <p:sp>
        <p:nvSpPr>
          <p:cNvPr id="39" name="Shape 389"/>
          <p:cNvSpPr/>
          <p:nvPr/>
        </p:nvSpPr>
        <p:spPr>
          <a:xfrm>
            <a:off x="9014770" y="3904063"/>
            <a:ext cx="1080513" cy="1080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EA18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r>
              <a:rPr lang="en-US" sz="1600" b="1" kern="0" dirty="0">
                <a:solidFill>
                  <a:srgbClr val="FFFFFF"/>
                </a:solidFill>
                <a:latin typeface="Open Sans"/>
                <a:cs typeface="Open Sans"/>
              </a:rPr>
              <a:t>6</a:t>
            </a:r>
            <a:endParaRPr sz="1600" b="1" kern="0" dirty="0">
              <a:solidFill>
                <a:srgbClr val="FFFFFF"/>
              </a:solidFill>
              <a:latin typeface="Open Sans"/>
              <a:cs typeface="Open Sans"/>
            </a:endParaRPr>
          </a:p>
        </p:txBody>
      </p:sp>
      <p:sp>
        <p:nvSpPr>
          <p:cNvPr id="42" name="Shape 394"/>
          <p:cNvSpPr/>
          <p:nvPr/>
        </p:nvSpPr>
        <p:spPr>
          <a:xfrm>
            <a:off x="1674384" y="3929803"/>
            <a:ext cx="1080513" cy="1080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EA18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r>
              <a:rPr lang="en-US" sz="1600" b="1" kern="0" dirty="0">
                <a:solidFill>
                  <a:srgbClr val="FFFFFF"/>
                </a:solidFill>
                <a:latin typeface="Open Sans"/>
                <a:cs typeface="Open Sans"/>
              </a:rPr>
              <a:t>2</a:t>
            </a:r>
            <a:endParaRPr sz="1600" b="1" kern="0" dirty="0">
              <a:solidFill>
                <a:srgbClr val="FFFFFF"/>
              </a:solidFill>
              <a:latin typeface="Open Sans"/>
              <a:cs typeface="Open Sans"/>
            </a:endParaRPr>
          </a:p>
        </p:txBody>
      </p:sp>
      <p:sp>
        <p:nvSpPr>
          <p:cNvPr id="45" name="Shape 399"/>
          <p:cNvSpPr/>
          <p:nvPr/>
        </p:nvSpPr>
        <p:spPr>
          <a:xfrm>
            <a:off x="5274919" y="3911892"/>
            <a:ext cx="1080514" cy="1080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EA18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r>
              <a:rPr lang="en-US" sz="1600" b="1" kern="0" dirty="0">
                <a:solidFill>
                  <a:srgbClr val="FFFFFF"/>
                </a:solidFill>
                <a:latin typeface="Open Sans"/>
                <a:cs typeface="Open Sans"/>
              </a:rPr>
              <a:t>4</a:t>
            </a:r>
            <a:endParaRPr sz="1600" b="1" kern="0" dirty="0">
              <a:solidFill>
                <a:srgbClr val="FFFFFF"/>
              </a:solidFill>
              <a:latin typeface="Open Sans"/>
              <a:cs typeface="Open Sans"/>
            </a:endParaRPr>
          </a:p>
        </p:txBody>
      </p:sp>
      <p:grpSp>
        <p:nvGrpSpPr>
          <p:cNvPr id="47" name="Group 407"/>
          <p:cNvGrpSpPr/>
          <p:nvPr/>
        </p:nvGrpSpPr>
        <p:grpSpPr>
          <a:xfrm>
            <a:off x="1090300" y="1680660"/>
            <a:ext cx="9662615" cy="3674691"/>
            <a:chOff x="2907122" y="1190578"/>
            <a:chExt cx="16402790" cy="5178921"/>
          </a:xfrm>
        </p:grpSpPr>
        <p:sp>
          <p:nvSpPr>
            <p:cNvPr id="48" name="Shape 404"/>
            <p:cNvSpPr/>
            <p:nvPr/>
          </p:nvSpPr>
          <p:spPr>
            <a:xfrm flipH="1">
              <a:off x="7908707" y="1190578"/>
              <a:ext cx="0" cy="5178921"/>
            </a:xfrm>
            <a:prstGeom prst="line">
              <a:avLst/>
            </a:prstGeom>
            <a:noFill/>
            <a:ln w="6350" cap="flat" cmpd="sng">
              <a:solidFill>
                <a:srgbClr val="9BBB5C"/>
              </a:solidFill>
              <a:prstDash val="sysDash"/>
              <a:bevel/>
              <a:headEnd type="oval" w="sm" len="sm"/>
              <a:tailEnd type="oval" w="sm" len="sm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3200">
                  <a:latin typeface="+mj-lt"/>
                  <a:ea typeface="+mj-ea"/>
                  <a:cs typeface="+mj-cs"/>
                  <a:sym typeface="Helvetica"/>
                </a:defRPr>
              </a:pPr>
              <a:endParaRPr sz="3200" kern="0">
                <a:solidFill>
                  <a:srgbClr val="31373B"/>
                </a:solidFill>
                <a:latin typeface="Open Sans"/>
                <a:sym typeface="Helvetica"/>
              </a:endParaRPr>
            </a:p>
          </p:txBody>
        </p:sp>
        <p:sp>
          <p:nvSpPr>
            <p:cNvPr id="49" name="Shape 405"/>
            <p:cNvSpPr/>
            <p:nvPr/>
          </p:nvSpPr>
          <p:spPr>
            <a:xfrm>
              <a:off x="14434689" y="1190578"/>
              <a:ext cx="0" cy="5178920"/>
            </a:xfrm>
            <a:prstGeom prst="line">
              <a:avLst/>
            </a:prstGeom>
            <a:noFill/>
            <a:ln w="6350" cap="flat" cmpd="sng">
              <a:solidFill>
                <a:srgbClr val="9BBB5C"/>
              </a:solidFill>
              <a:prstDash val="sysDash"/>
              <a:bevel/>
              <a:headEnd type="oval" w="sm" len="sm"/>
              <a:tailEnd type="oval" w="sm" len="sm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3200">
                  <a:latin typeface="+mj-lt"/>
                  <a:ea typeface="+mj-ea"/>
                  <a:cs typeface="+mj-cs"/>
                  <a:sym typeface="Helvetica"/>
                </a:defRPr>
              </a:pPr>
              <a:endParaRPr sz="3200" kern="0">
                <a:solidFill>
                  <a:srgbClr val="31373B"/>
                </a:solidFill>
                <a:latin typeface="Open Sans"/>
                <a:sym typeface="Helvetica"/>
              </a:endParaRPr>
            </a:p>
          </p:txBody>
        </p:sp>
        <p:sp>
          <p:nvSpPr>
            <p:cNvPr id="50" name="Shape 406"/>
            <p:cNvSpPr/>
            <p:nvPr/>
          </p:nvSpPr>
          <p:spPr>
            <a:xfrm flipV="1">
              <a:off x="2907122" y="4116470"/>
              <a:ext cx="16402790" cy="0"/>
            </a:xfrm>
            <a:prstGeom prst="line">
              <a:avLst/>
            </a:prstGeom>
            <a:noFill/>
            <a:ln w="6350" cap="flat" cmpd="sng">
              <a:solidFill>
                <a:srgbClr val="9BBB5C"/>
              </a:solidFill>
              <a:prstDash val="sysDash"/>
              <a:bevel/>
              <a:headEnd type="oval" w="sm" len="sm"/>
              <a:tailEnd type="oval" w="sm" len="sm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defRPr sz="3200">
                  <a:latin typeface="+mj-lt"/>
                  <a:ea typeface="+mj-ea"/>
                  <a:cs typeface="+mj-cs"/>
                  <a:sym typeface="Helvetica"/>
                </a:defRPr>
              </a:pPr>
              <a:endParaRPr sz="3200" kern="0">
                <a:solidFill>
                  <a:srgbClr val="31373B"/>
                </a:solidFill>
                <a:latin typeface="Open Sans"/>
                <a:sym typeface="Helvetica"/>
              </a:endParaRPr>
            </a:p>
          </p:txBody>
        </p:sp>
      </p:grpSp>
      <p:sp>
        <p:nvSpPr>
          <p:cNvPr id="51" name="Rectangle 50"/>
          <p:cNvSpPr/>
          <p:nvPr/>
        </p:nvSpPr>
        <p:spPr>
          <a:xfrm>
            <a:off x="8184101" y="5185679"/>
            <a:ext cx="31758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Open Sans"/>
              </a:rPr>
              <a:t>Sản </a:t>
            </a:r>
            <a:r>
              <a:rPr lang="en-US">
                <a:solidFill>
                  <a:srgbClr val="C00000"/>
                </a:solidFill>
                <a:latin typeface="Open Sans"/>
              </a:rPr>
              <a:t>phẩm được đánh giá tích cực</a:t>
            </a:r>
            <a:r>
              <a:rPr lang="en-US">
                <a:solidFill>
                  <a:prstClr val="black"/>
                </a:solidFill>
                <a:latin typeface="Open Sans"/>
              </a:rPr>
              <a:t> từ các bệnh viện, khách hàng. Trở thành xu hướng sữa tắm bé hiện nay</a:t>
            </a:r>
            <a:endParaRPr lang="vi-VN" dirty="0">
              <a:solidFill>
                <a:prstClr val="black"/>
              </a:solidFill>
              <a:latin typeface="Open San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52450" y="5185679"/>
            <a:ext cx="31528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Open Sans"/>
              </a:rPr>
              <a:t>Được </a:t>
            </a:r>
            <a:r>
              <a:rPr lang="vi-VN">
                <a:solidFill>
                  <a:srgbClr val="C00000"/>
                </a:solidFill>
                <a:latin typeface="Open Sans"/>
              </a:rPr>
              <a:t>nghiên cứu </a:t>
            </a:r>
            <a:r>
              <a:rPr lang="en-US">
                <a:solidFill>
                  <a:srgbClr val="C00000"/>
                </a:solidFill>
                <a:latin typeface="Open Sans"/>
              </a:rPr>
              <a:t>bài bản </a:t>
            </a:r>
            <a:r>
              <a:rPr lang="vi-VN">
                <a:solidFill>
                  <a:prstClr val="black"/>
                </a:solidFill>
                <a:latin typeface="Open Sans"/>
              </a:rPr>
              <a:t>bởi </a:t>
            </a:r>
            <a:r>
              <a:rPr lang="vi-VN" dirty="0">
                <a:solidFill>
                  <a:prstClr val="black"/>
                </a:solidFill>
                <a:latin typeface="Open Sans"/>
              </a:rPr>
              <a:t>các nhà khoa học trường ĐH Dược </a:t>
            </a:r>
            <a:r>
              <a:rPr lang="vi-VN">
                <a:solidFill>
                  <a:prstClr val="black"/>
                </a:solidFill>
                <a:latin typeface="Open Sans"/>
              </a:rPr>
              <a:t>Hà Nội</a:t>
            </a:r>
            <a:r>
              <a:rPr lang="en-US">
                <a:solidFill>
                  <a:prstClr val="black"/>
                </a:solidFill>
                <a:latin typeface="Open Sans"/>
              </a:rPr>
              <a:t>. </a:t>
            </a:r>
            <a:r>
              <a:rPr lang="en-US">
                <a:solidFill>
                  <a:srgbClr val="C00000"/>
                </a:solidFill>
                <a:latin typeface="Open Sans"/>
              </a:rPr>
              <a:t>Sản xuất đạt tiêu chuẩn GMP</a:t>
            </a:r>
            <a:endParaRPr lang="vi-VN" dirty="0">
              <a:solidFill>
                <a:srgbClr val="C00000"/>
              </a:solidFill>
              <a:latin typeface="Open San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182145" y="2367406"/>
            <a:ext cx="34789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  <a:latin typeface="Open Sans"/>
              </a:rPr>
              <a:t>Công thức 5 KHÔNG </a:t>
            </a:r>
            <a:r>
              <a:rPr lang="en-US">
                <a:solidFill>
                  <a:prstClr val="black"/>
                </a:solidFill>
                <a:latin typeface="Open Sans"/>
              </a:rPr>
              <a:t>=&gt; đảm bảo </a:t>
            </a:r>
            <a:r>
              <a:rPr lang="en-US">
                <a:solidFill>
                  <a:srgbClr val="C00000"/>
                </a:solidFill>
                <a:latin typeface="Open Sans"/>
              </a:rPr>
              <a:t>an toàn </a:t>
            </a:r>
            <a:r>
              <a:rPr lang="en-US">
                <a:solidFill>
                  <a:prstClr val="black"/>
                </a:solidFill>
                <a:latin typeface="Open Sans"/>
              </a:rPr>
              <a:t>cho trẻ sơ sinh và trẻ nhỏ, sử dụng lâu dài không gây tác dụng phụ</a:t>
            </a:r>
            <a:endParaRPr lang="vi-VN" dirty="0">
              <a:solidFill>
                <a:prstClr val="black"/>
              </a:solidFill>
              <a:latin typeface="Open San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47675" y="2367406"/>
            <a:ext cx="34261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  <a:latin typeface="Open Sans"/>
              </a:rPr>
              <a:t>Nước tắm đầu tiên </a:t>
            </a:r>
            <a:r>
              <a:rPr lang="en-US">
                <a:solidFill>
                  <a:prstClr val="black"/>
                </a:solidFill>
                <a:latin typeface="Open Sans"/>
              </a:rPr>
              <a:t>tại Việt Nam </a:t>
            </a:r>
            <a:r>
              <a:rPr lang="en-US">
                <a:solidFill>
                  <a:srgbClr val="C00000"/>
                </a:solidFill>
                <a:latin typeface="Open Sans"/>
              </a:rPr>
              <a:t>tắm xong không cần tráng </a:t>
            </a:r>
            <a:r>
              <a:rPr lang="en-US">
                <a:solidFill>
                  <a:prstClr val="black"/>
                </a:solidFill>
                <a:latin typeface="Open Sans"/>
              </a:rPr>
              <a:t>lại bằng nước thường, giúp tiết kiệm thời gian, công sức</a:t>
            </a:r>
            <a:endParaRPr lang="vi-VN" dirty="0">
              <a:solidFill>
                <a:prstClr val="black"/>
              </a:solidFill>
              <a:latin typeface="Open San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339753" y="5185679"/>
            <a:ext cx="33213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Open Sans"/>
              </a:rPr>
              <a:t>Ngoài tác dụng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làm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err="1">
                <a:solidFill>
                  <a:prstClr val="black"/>
                </a:solidFill>
                <a:latin typeface="Open Sans"/>
              </a:rPr>
              <a:t>sạch</a:t>
            </a:r>
            <a:r>
              <a:rPr lang="en-US">
                <a:solidFill>
                  <a:prstClr val="black"/>
                </a:solidFill>
                <a:latin typeface="Open Sans"/>
              </a:rPr>
              <a:t> còn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có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tác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ngăn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ngừa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Open Sans"/>
              </a:rPr>
              <a:t>và</a:t>
            </a:r>
            <a:r>
              <a:rPr lang="en-US" dirty="0">
                <a:solidFill>
                  <a:prstClr val="black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Open Sans"/>
              </a:rPr>
              <a:t>điều</a:t>
            </a:r>
            <a:r>
              <a:rPr lang="en-US" dirty="0">
                <a:solidFill>
                  <a:srgbClr val="C000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Open Sans"/>
              </a:rPr>
              <a:t>trị</a:t>
            </a:r>
            <a:r>
              <a:rPr lang="en-US" dirty="0">
                <a:solidFill>
                  <a:srgbClr val="C000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Open Sans"/>
              </a:rPr>
              <a:t>các</a:t>
            </a:r>
            <a:r>
              <a:rPr lang="en-US" dirty="0">
                <a:solidFill>
                  <a:srgbClr val="C00000"/>
                </a:solidFill>
                <a:latin typeface="Open Sans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Open Sans"/>
              </a:rPr>
              <a:t>bệnh</a:t>
            </a:r>
            <a:r>
              <a:rPr lang="en-US" dirty="0">
                <a:solidFill>
                  <a:srgbClr val="C00000"/>
                </a:solidFill>
                <a:latin typeface="Open Sans"/>
              </a:rPr>
              <a:t> </a:t>
            </a:r>
            <a:r>
              <a:rPr lang="en-US" err="1">
                <a:solidFill>
                  <a:srgbClr val="C00000"/>
                </a:solidFill>
                <a:latin typeface="Open Sans"/>
              </a:rPr>
              <a:t>ngoài</a:t>
            </a:r>
            <a:r>
              <a:rPr lang="en-US">
                <a:solidFill>
                  <a:srgbClr val="C00000"/>
                </a:solidFill>
                <a:latin typeface="Open Sans"/>
              </a:rPr>
              <a:t> da </a:t>
            </a:r>
            <a:r>
              <a:rPr lang="en-US">
                <a:solidFill>
                  <a:prstClr val="black"/>
                </a:solidFill>
                <a:latin typeface="Open Sans"/>
              </a:rPr>
              <a:t>như rôm sảy, mụn nhọt, chàm sữa</a:t>
            </a:r>
            <a:endParaRPr lang="vi-VN" dirty="0">
              <a:solidFill>
                <a:prstClr val="black"/>
              </a:solidFill>
              <a:latin typeface="Open San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43815" y="2367406"/>
            <a:ext cx="33161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Open Sans"/>
              </a:rPr>
              <a:t>Thay vì </a:t>
            </a:r>
            <a:r>
              <a:rPr lang="en-US">
                <a:solidFill>
                  <a:srgbClr val="C00000"/>
                </a:solidFill>
                <a:latin typeface="Open Sans"/>
              </a:rPr>
              <a:t>sử dụng mùi thơm hóa dược</a:t>
            </a:r>
            <a:r>
              <a:rPr lang="en-US">
                <a:solidFill>
                  <a:prstClr val="black"/>
                </a:solidFill>
                <a:latin typeface="Open Sans"/>
              </a:rPr>
              <a:t>, sp sử dụng tinh dầu có tác dụng làm thơm, kháng khuẩn, chống muỗi, thư giãn</a:t>
            </a:r>
            <a:endParaRPr lang="vi-VN" dirty="0">
              <a:solidFill>
                <a:prstClr val="black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9664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0" grpId="0" animBg="1"/>
      <p:bldP spid="33" grpId="0" animBg="1"/>
      <p:bldP spid="36" grpId="0" animBg="1"/>
      <p:bldP spid="39" grpId="0" animBg="1"/>
      <p:bldP spid="42" grpId="0" animBg="1"/>
      <p:bldP spid="45" grpId="0" animBg="1"/>
      <p:bldP spid="51" grpId="0"/>
      <p:bldP spid="52" grpId="0"/>
      <p:bldP spid="53" grpId="0"/>
      <p:bldP spid="54" grpId="0"/>
      <p:bldP spid="5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835444" y="1020115"/>
            <a:ext cx="8460160" cy="5315470"/>
            <a:chOff x="1530644" y="1109015"/>
            <a:chExt cx="8460160" cy="531547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2099" y="1109015"/>
              <a:ext cx="1895562" cy="2527416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0900" y="1171564"/>
              <a:ext cx="1885533" cy="251404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6500" y="1109015"/>
              <a:ext cx="1895562" cy="252741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752" b="5156"/>
            <a:stretch/>
          </p:blipFill>
          <p:spPr>
            <a:xfrm>
              <a:off x="3746500" y="3861263"/>
              <a:ext cx="1895561" cy="2563222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5271" y="1171564"/>
              <a:ext cx="1885533" cy="251404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0900" y="3910441"/>
              <a:ext cx="1885533" cy="251404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5271" y="3910441"/>
              <a:ext cx="1885533" cy="2514044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0644" y="3835055"/>
              <a:ext cx="1927017" cy="2589429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1637005" y="396166"/>
            <a:ext cx="9197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Open Sans"/>
              </a:rPr>
              <a:t>ELEMIS ĐƯỢC NHIỀU MẸ BỈM SỮA TIN DÙNG VÀ YÊU THÍCH</a:t>
            </a:r>
          </a:p>
        </p:txBody>
      </p:sp>
    </p:spTree>
    <p:extLst>
      <p:ext uri="{BB962C8B-B14F-4D97-AF65-F5344CB8AC3E}">
        <p14:creationId xmlns:p14="http://schemas.microsoft.com/office/powerpoint/2010/main" val="19077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Widescreen</PresentationFormat>
  <Paragraphs>82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(Body)</vt:lpstr>
      <vt:lpstr>Calibri</vt:lpstr>
      <vt:lpstr>Calibri Light</vt:lpstr>
      <vt:lpstr>Courier New</vt:lpstr>
      <vt:lpstr>Helvetica</vt:lpstr>
      <vt:lpstr>Open Sans</vt:lpstr>
      <vt:lpstr>Times New Roman</vt:lpstr>
      <vt:lpstr>Office Theme</vt:lpstr>
      <vt:lpstr>PowerPoint Presentation</vt:lpstr>
      <vt:lpstr>Nhiều mẹ Việt đang gặp khó khăn trong việc lựa chọn sản phẩm tắm gội an toàn và hiệu quả cho bé?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Kiểm nghiệm tại viện Kiểm nghiệm thuốc trung ương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Thuy Nhi</dc:creator>
  <cp:lastModifiedBy>Thuy Nhi</cp:lastModifiedBy>
  <cp:revision>1</cp:revision>
  <dcterms:created xsi:type="dcterms:W3CDTF">2026-09-21T07:32:35Z</dcterms:created>
  <dcterms:modified xsi:type="dcterms:W3CDTF">2026-09-21T07:32:53Z</dcterms:modified>
</cp:coreProperties>
</file>